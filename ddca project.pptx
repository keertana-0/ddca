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Sorts Mill Goudy" charset="1" panose="02000503000000000000"/>
      <p:regular r:id="rId19"/>
    </p:embeddedFont>
    <p:embeddedFont>
      <p:font typeface="RoxboroughCF" charset="1" panose="00000500000000000000"/>
      <p:regular r:id="rId20"/>
    </p:embeddedFont>
    <p:embeddedFont>
      <p:font typeface="Montserrat" charset="1" panose="000005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.jpeg" Type="http://schemas.openxmlformats.org/officeDocument/2006/relationships/image"/><Relationship Id="rId5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.jpe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.jpe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.jpe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7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7280" y="1015365"/>
            <a:ext cx="588213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9B492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DIGITAL DESIGN &amp; COMPUTER ARCHITECTURE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4128" y="1535811"/>
            <a:ext cx="13258800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20"/>
              </a:lnSpc>
            </a:pPr>
            <a:r>
              <a:rPr lang="en-US" sz="5600" spc="-112">
                <a:solidFill>
                  <a:srgbClr val="764B36"/>
                </a:solidFill>
                <a:latin typeface="RoxboroughCF"/>
                <a:ea typeface="RoxboroughCF"/>
                <a:cs typeface="RoxboroughCF"/>
                <a:sym typeface="RoxboroughCF"/>
              </a:rPr>
              <a:t>Smart Water Tank Overflow Protection &amp; Pump Control System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80160" y="3931920"/>
            <a:ext cx="6611112" cy="5288890"/>
            <a:chOff x="0" y="0"/>
            <a:chExt cx="8814816" cy="7051853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8814816" cy="7051802"/>
            </a:xfrm>
            <a:custGeom>
              <a:avLst/>
              <a:gdLst/>
              <a:ahLst/>
              <a:cxnLst/>
              <a:rect r="r" b="b" t="t" l="l"/>
              <a:pathLst>
                <a:path h="7051802" w="8814816">
                  <a:moveTo>
                    <a:pt x="0" y="0"/>
                  </a:moveTo>
                  <a:lnTo>
                    <a:pt x="8814816" y="0"/>
                  </a:lnTo>
                  <a:lnTo>
                    <a:pt x="8814816" y="7051802"/>
                  </a:lnTo>
                  <a:lnTo>
                    <a:pt x="0" y="70518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125463" y="4056383"/>
            <a:ext cx="1762763" cy="711203"/>
            <a:chOff x="0" y="0"/>
            <a:chExt cx="2350351" cy="9482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50262" cy="948182"/>
            </a:xfrm>
            <a:custGeom>
              <a:avLst/>
              <a:gdLst/>
              <a:ahLst/>
              <a:cxnLst/>
              <a:rect r="r" b="b" t="t" l="l"/>
              <a:pathLst>
                <a:path h="948182" w="2350262">
                  <a:moveTo>
                    <a:pt x="0" y="157988"/>
                  </a:moveTo>
                  <a:cubicBezTo>
                    <a:pt x="0" y="70739"/>
                    <a:pt x="70739" y="0"/>
                    <a:pt x="157988" y="0"/>
                  </a:cubicBezTo>
                  <a:lnTo>
                    <a:pt x="2192274" y="0"/>
                  </a:lnTo>
                  <a:cubicBezTo>
                    <a:pt x="2279523" y="0"/>
                    <a:pt x="2350262" y="70739"/>
                    <a:pt x="2350262" y="157988"/>
                  </a:cubicBezTo>
                  <a:lnTo>
                    <a:pt x="2350262" y="790194"/>
                  </a:lnTo>
                  <a:cubicBezTo>
                    <a:pt x="2350262" y="877443"/>
                    <a:pt x="2279523" y="948182"/>
                    <a:pt x="2192274" y="948182"/>
                  </a:cubicBezTo>
                  <a:lnTo>
                    <a:pt x="157988" y="948182"/>
                  </a:lnTo>
                  <a:cubicBezTo>
                    <a:pt x="70739" y="948309"/>
                    <a:pt x="0" y="877570"/>
                    <a:pt x="0" y="790194"/>
                  </a:cubicBezTo>
                  <a:close/>
                </a:path>
              </a:pathLst>
            </a:custGeom>
            <a:solidFill>
              <a:srgbClr val="C88A36"/>
            </a:solidFill>
            <a:ln w="25400" cap="sq">
              <a:solidFill>
                <a:srgbClr val="1E6F8E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138160" y="4069080"/>
            <a:ext cx="1737360" cy="685800"/>
            <a:chOff x="0" y="0"/>
            <a:chExt cx="2316480" cy="914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316480" cy="914400"/>
            </a:xfrm>
            <a:custGeom>
              <a:avLst/>
              <a:gdLst/>
              <a:ahLst/>
              <a:cxnLst/>
              <a:rect r="r" b="b" t="t" l="l"/>
              <a:pathLst>
                <a:path h="914400" w="2316480">
                  <a:moveTo>
                    <a:pt x="0" y="0"/>
                  </a:moveTo>
                  <a:lnTo>
                    <a:pt x="2316480" y="0"/>
                  </a:lnTo>
                  <a:lnTo>
                    <a:pt x="2316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46" t="0" r="-646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31648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spc="416">
                  <a:solidFill>
                    <a:srgbClr val="EFE7D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DDCA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966960" y="5055870"/>
            <a:ext cx="6231136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199">
                <a:solidFill>
                  <a:srgbClr val="9B492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SENSORS IN  →  LOGIC GATES  →  PUMP OUT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66960" y="5833110"/>
            <a:ext cx="6829276" cy="35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9"/>
              </a:lnSpc>
            </a:pPr>
            <a:r>
              <a:rPr lang="en-US" sz="2199">
                <a:solidFill>
                  <a:srgbClr val="9B492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 combinational-logic controller with no microcontroller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66960" y="7021830"/>
            <a:ext cx="7315200" cy="96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000">
                <a:solidFill>
                  <a:srgbClr val="9B492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Miriyala Rupasri  ·  Laxmi Sankeertana  ·  Kashetti Ramyasri</a:t>
            </a:r>
          </a:p>
          <a:p>
            <a:pPr algn="l">
              <a:lnSpc>
                <a:spcPts val="2600"/>
              </a:lnSpc>
            </a:pPr>
            <a:r>
              <a:rPr lang="en-US" sz="2000">
                <a:solidFill>
                  <a:srgbClr val="9B492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AI &amp; DS  |  Project Batch 09  |  Guide: Dr Venkat Isampalli</a:t>
            </a:r>
          </a:p>
          <a:p>
            <a:pPr algn="l">
              <a:lnSpc>
                <a:spcPts val="2600"/>
              </a:lnSpc>
            </a:pPr>
            <a:r>
              <a:rPr lang="en-US" sz="2000">
                <a:solidFill>
                  <a:srgbClr val="9B492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K L Deemed to be University  ·  Academic Year 2026–27  ·  FED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7280" y="576072"/>
            <a:ext cx="164797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01  CONTEXT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60845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5709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0573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97280" y="1097280"/>
            <a:ext cx="16093440" cy="1188720"/>
            <a:chOff x="0" y="0"/>
            <a:chExt cx="21457920" cy="1584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79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13797" r="0" b="-21379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45792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spc="-88">
                  <a:solidFill>
                    <a:srgbClr val="764B36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Problem, objectives &amp; project abstract</a:t>
              </a:r>
            </a:p>
          </p:txBody>
        </p:sp>
      </p:grpSp>
      <p:sp>
        <p:nvSpPr>
          <p:cNvPr name="AutoShape 9" id="9"/>
          <p:cNvSpPr/>
          <p:nvPr/>
        </p:nvSpPr>
        <p:spPr>
          <a:xfrm rot="2040">
            <a:off x="1083374" y="2400110"/>
            <a:ext cx="16121253" cy="0"/>
          </a:xfrm>
          <a:prstGeom prst="line">
            <a:avLst/>
          </a:prstGeom>
          <a:ln cap="rnd" w="9525">
            <a:solidFill>
              <a:srgbClr val="764B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97280" y="9646920"/>
            <a:ext cx="681484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Smart Water Tank Overflow Protection &amp; Pump Control  ·  DDCA  ·  Batch 09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667887" y="9646920"/>
            <a:ext cx="52283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02 / 13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7280" y="2651760"/>
            <a:ext cx="260240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spc="351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THE PROBLEM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7280" y="3173730"/>
            <a:ext cx="466279" cy="39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1"/>
              </a:lnSpc>
            </a:pPr>
            <a:r>
              <a:rPr lang="en-US" sz="2737" spc="438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11680" y="3191256"/>
            <a:ext cx="676656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Overflow: pump continues after the tank is full, wasting water.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7280" y="3966210"/>
            <a:ext cx="538311" cy="39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1"/>
              </a:lnSpc>
            </a:pPr>
            <a:r>
              <a:rPr lang="en-US" sz="2737" spc="438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11680" y="3983736"/>
            <a:ext cx="676656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Unsafe pump running: unwanted operation can stress the motor; the abstract also identifies dry-running risk.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7280" y="4758690"/>
            <a:ext cx="534144" cy="3967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1"/>
              </a:lnSpc>
            </a:pPr>
            <a:r>
              <a:rPr lang="en-US" sz="2737" spc="438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11680" y="4776216"/>
            <a:ext cx="676656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Manual effort: someone must monitor the tank and switch the pump off.</a:t>
            </a:r>
          </a:p>
        </p:txBody>
      </p:sp>
      <p:sp>
        <p:nvSpPr>
          <p:cNvPr name="AutoShape 19" id="19"/>
          <p:cNvSpPr/>
          <p:nvPr/>
        </p:nvSpPr>
        <p:spPr>
          <a:xfrm rot="5388480">
            <a:off x="7721908" y="4110038"/>
            <a:ext cx="2844184" cy="0"/>
          </a:xfrm>
          <a:prstGeom prst="line">
            <a:avLst/>
          </a:prstGeom>
          <a:ln cap="rnd" w="9525">
            <a:solidFill>
              <a:srgbClr val="9B49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9509760" y="2651760"/>
            <a:ext cx="220831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 spc="351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OBJECTIVES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09760" y="3154680"/>
            <a:ext cx="768096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2740" indent="-16637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Monitor water level using sensors at different heights.</a:t>
            </a:r>
          </a:p>
          <a:p>
            <a:pPr algn="l" marL="332740" indent="-16637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Switch the pump ON at low levels and OFF at the full threshold.</a:t>
            </a:r>
          </a:p>
          <a:p>
            <a:pPr algn="l" marL="332740" indent="-16637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Protect against overflow and unsafe operation.</a:t>
            </a:r>
          </a:p>
          <a:p>
            <a:pPr algn="l" marL="332740" indent="-166370" lvl="1">
              <a:lnSpc>
                <a:spcPts val="2400"/>
              </a:lnSpc>
              <a:buFont typeface="Arial"/>
              <a:buChar char="•"/>
            </a:pPr>
            <a:r>
              <a:rPr lang="en-US" sz="2000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Use combinational gates only; simulate and verify the design.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87755" y="5659755"/>
            <a:ext cx="9528810" cy="2853690"/>
            <a:chOff x="0" y="0"/>
            <a:chExt cx="12705080" cy="38049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705080" cy="3804920"/>
            </a:xfrm>
            <a:custGeom>
              <a:avLst/>
              <a:gdLst/>
              <a:ahLst/>
              <a:cxnLst/>
              <a:rect r="r" b="b" t="t" l="l"/>
              <a:pathLst>
                <a:path h="3804920" w="12705080">
                  <a:moveTo>
                    <a:pt x="0" y="0"/>
                  </a:moveTo>
                  <a:lnTo>
                    <a:pt x="12705080" y="0"/>
                  </a:lnTo>
                  <a:lnTo>
                    <a:pt x="12705080" y="3804920"/>
                  </a:lnTo>
                  <a:lnTo>
                    <a:pt x="0" y="3804920"/>
                  </a:lnTo>
                  <a:close/>
                </a:path>
              </a:pathLst>
            </a:custGeom>
            <a:solidFill>
              <a:srgbClr val="9B4922"/>
            </a:solidFill>
            <a:ln w="19050" cap="sq">
              <a:solidFill>
                <a:srgbClr val="CFC6B2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417320" y="5861685"/>
            <a:ext cx="244122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ABSTRACT IN BRIEF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17320" y="6309360"/>
            <a:ext cx="8869680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Three water-level sensors feed logic gates that determine the pump state: ON while the level is below full and readings are valid, OFF at the threshold or when readings are impossible. The low-cost design uses no microcontroller and is simulated to check water-level control, reduced wastage and safe operation.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871835" y="5659755"/>
            <a:ext cx="6328410" cy="2853690"/>
            <a:chOff x="0" y="0"/>
            <a:chExt cx="8437880" cy="38049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437880" cy="3804920"/>
            </a:xfrm>
            <a:custGeom>
              <a:avLst/>
              <a:gdLst/>
              <a:ahLst/>
              <a:cxnLst/>
              <a:rect r="r" b="b" t="t" l="l"/>
              <a:pathLst>
                <a:path h="3804920" w="8437880">
                  <a:moveTo>
                    <a:pt x="0" y="0"/>
                  </a:moveTo>
                  <a:lnTo>
                    <a:pt x="8437880" y="0"/>
                  </a:lnTo>
                  <a:lnTo>
                    <a:pt x="8437880" y="3804920"/>
                  </a:lnTo>
                  <a:lnTo>
                    <a:pt x="0" y="3804920"/>
                  </a:lnTo>
                  <a:close/>
                </a:path>
              </a:pathLst>
            </a:custGeom>
            <a:solidFill>
              <a:srgbClr val="D1774C"/>
            </a:solidFill>
            <a:ln w="19050" cap="sq">
              <a:solidFill>
                <a:srgbClr val="CFC6B2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1155680" y="5861685"/>
            <a:ext cx="146818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KEYWORDS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149327" y="6348727"/>
            <a:ext cx="2847337" cy="469897"/>
            <a:chOff x="0" y="0"/>
            <a:chExt cx="3796449" cy="62652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796411" cy="626491"/>
            </a:xfrm>
            <a:custGeom>
              <a:avLst/>
              <a:gdLst/>
              <a:ahLst/>
              <a:cxnLst/>
              <a:rect r="r" b="b" t="t" l="l"/>
              <a:pathLst>
                <a:path h="626491" w="3796411">
                  <a:moveTo>
                    <a:pt x="0" y="104394"/>
                  </a:moveTo>
                  <a:cubicBezTo>
                    <a:pt x="0" y="46736"/>
                    <a:pt x="46736" y="0"/>
                    <a:pt x="104394" y="0"/>
                  </a:cubicBezTo>
                  <a:lnTo>
                    <a:pt x="3692017" y="0"/>
                  </a:lnTo>
                  <a:cubicBezTo>
                    <a:pt x="3749675" y="0"/>
                    <a:pt x="3796411" y="46736"/>
                    <a:pt x="3796411" y="104394"/>
                  </a:cubicBezTo>
                  <a:lnTo>
                    <a:pt x="3796411" y="522097"/>
                  </a:lnTo>
                  <a:cubicBezTo>
                    <a:pt x="3796411" y="579755"/>
                    <a:pt x="3749675" y="626491"/>
                    <a:pt x="3692017" y="626491"/>
                  </a:cubicBezTo>
                  <a:lnTo>
                    <a:pt x="104394" y="626491"/>
                  </a:lnTo>
                  <a:cubicBezTo>
                    <a:pt x="46736" y="626491"/>
                    <a:pt x="0" y="579755"/>
                    <a:pt x="0" y="522097"/>
                  </a:cubicBezTo>
                  <a:close/>
                </a:path>
              </a:pathLst>
            </a:custGeom>
            <a:solidFill>
              <a:srgbClr val="D8A790"/>
            </a:solidFill>
            <a:ln w="12700" cap="sq">
              <a:solidFill>
                <a:srgbClr val="1E6F8E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1155680" y="6355080"/>
            <a:ext cx="2834640" cy="457200"/>
            <a:chOff x="0" y="0"/>
            <a:chExt cx="3779520" cy="609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779520" cy="609600"/>
            </a:xfrm>
            <a:custGeom>
              <a:avLst/>
              <a:gdLst/>
              <a:ahLst/>
              <a:cxnLst/>
              <a:rect r="r" b="b" t="t" l="l"/>
              <a:pathLst>
                <a:path h="60960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77952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0"/>
                </a:lnSpc>
              </a:pPr>
              <a:r>
                <a:rPr lang="en-US" sz="1550">
                  <a:solidFill>
                    <a:srgbClr val="9B4922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Smart Water Tank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075407" y="6348727"/>
            <a:ext cx="2847337" cy="469897"/>
            <a:chOff x="0" y="0"/>
            <a:chExt cx="3796449" cy="62652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796411" cy="626491"/>
            </a:xfrm>
            <a:custGeom>
              <a:avLst/>
              <a:gdLst/>
              <a:ahLst/>
              <a:cxnLst/>
              <a:rect r="r" b="b" t="t" l="l"/>
              <a:pathLst>
                <a:path h="626491" w="3796411">
                  <a:moveTo>
                    <a:pt x="0" y="104394"/>
                  </a:moveTo>
                  <a:cubicBezTo>
                    <a:pt x="0" y="46736"/>
                    <a:pt x="46736" y="0"/>
                    <a:pt x="104394" y="0"/>
                  </a:cubicBezTo>
                  <a:lnTo>
                    <a:pt x="3692017" y="0"/>
                  </a:lnTo>
                  <a:cubicBezTo>
                    <a:pt x="3749675" y="0"/>
                    <a:pt x="3796411" y="46736"/>
                    <a:pt x="3796411" y="104394"/>
                  </a:cubicBezTo>
                  <a:lnTo>
                    <a:pt x="3796411" y="522097"/>
                  </a:lnTo>
                  <a:cubicBezTo>
                    <a:pt x="3796411" y="579755"/>
                    <a:pt x="3749675" y="626491"/>
                    <a:pt x="3692017" y="626491"/>
                  </a:cubicBezTo>
                  <a:lnTo>
                    <a:pt x="104394" y="626491"/>
                  </a:lnTo>
                  <a:cubicBezTo>
                    <a:pt x="46736" y="626491"/>
                    <a:pt x="0" y="579755"/>
                    <a:pt x="0" y="522097"/>
                  </a:cubicBezTo>
                  <a:close/>
                </a:path>
              </a:pathLst>
            </a:custGeom>
            <a:solidFill>
              <a:srgbClr val="D8A790"/>
            </a:solidFill>
            <a:ln w="12700" cap="sq">
              <a:solidFill>
                <a:srgbClr val="1E6F8E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4081760" y="6355080"/>
            <a:ext cx="2834640" cy="457200"/>
            <a:chOff x="0" y="0"/>
            <a:chExt cx="3779520" cy="609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779520" cy="609600"/>
            </a:xfrm>
            <a:custGeom>
              <a:avLst/>
              <a:gdLst/>
              <a:ahLst/>
              <a:cxnLst/>
              <a:rect r="r" b="b" t="t" l="l"/>
              <a:pathLst>
                <a:path h="60960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377952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0"/>
                </a:lnSpc>
              </a:pPr>
              <a:r>
                <a:rPr lang="en-US" sz="1550">
                  <a:solidFill>
                    <a:srgbClr val="9B4922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Overflow Protection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149327" y="6879079"/>
            <a:ext cx="2847337" cy="469897"/>
            <a:chOff x="0" y="0"/>
            <a:chExt cx="3796449" cy="62652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796411" cy="626491"/>
            </a:xfrm>
            <a:custGeom>
              <a:avLst/>
              <a:gdLst/>
              <a:ahLst/>
              <a:cxnLst/>
              <a:rect r="r" b="b" t="t" l="l"/>
              <a:pathLst>
                <a:path h="626491" w="3796411">
                  <a:moveTo>
                    <a:pt x="0" y="104394"/>
                  </a:moveTo>
                  <a:cubicBezTo>
                    <a:pt x="0" y="46736"/>
                    <a:pt x="46736" y="0"/>
                    <a:pt x="104394" y="0"/>
                  </a:cubicBezTo>
                  <a:lnTo>
                    <a:pt x="3692017" y="0"/>
                  </a:lnTo>
                  <a:cubicBezTo>
                    <a:pt x="3749675" y="0"/>
                    <a:pt x="3796411" y="46736"/>
                    <a:pt x="3796411" y="104394"/>
                  </a:cubicBezTo>
                  <a:lnTo>
                    <a:pt x="3796411" y="522097"/>
                  </a:lnTo>
                  <a:cubicBezTo>
                    <a:pt x="3796411" y="579755"/>
                    <a:pt x="3749675" y="626491"/>
                    <a:pt x="3692017" y="626491"/>
                  </a:cubicBezTo>
                  <a:lnTo>
                    <a:pt x="104394" y="626491"/>
                  </a:lnTo>
                  <a:cubicBezTo>
                    <a:pt x="46736" y="626491"/>
                    <a:pt x="0" y="579755"/>
                    <a:pt x="0" y="522097"/>
                  </a:cubicBezTo>
                  <a:close/>
                </a:path>
              </a:pathLst>
            </a:custGeom>
            <a:solidFill>
              <a:srgbClr val="D8A790"/>
            </a:solidFill>
            <a:ln w="12700" cap="sq">
              <a:solidFill>
                <a:srgbClr val="1E6F8E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1155680" y="6885432"/>
            <a:ext cx="2834640" cy="457200"/>
            <a:chOff x="0" y="0"/>
            <a:chExt cx="3779520" cy="609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779520" cy="609600"/>
            </a:xfrm>
            <a:custGeom>
              <a:avLst/>
              <a:gdLst/>
              <a:ahLst/>
              <a:cxnLst/>
              <a:rect r="r" b="b" t="t" l="l"/>
              <a:pathLst>
                <a:path h="60960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377952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0"/>
                </a:lnSpc>
              </a:pPr>
              <a:r>
                <a:rPr lang="en-US" sz="1550">
                  <a:solidFill>
                    <a:srgbClr val="9B4922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Pump Control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075407" y="6879079"/>
            <a:ext cx="2847337" cy="469897"/>
            <a:chOff x="0" y="0"/>
            <a:chExt cx="3796449" cy="62652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796411" cy="626491"/>
            </a:xfrm>
            <a:custGeom>
              <a:avLst/>
              <a:gdLst/>
              <a:ahLst/>
              <a:cxnLst/>
              <a:rect r="r" b="b" t="t" l="l"/>
              <a:pathLst>
                <a:path h="626491" w="3796411">
                  <a:moveTo>
                    <a:pt x="0" y="104394"/>
                  </a:moveTo>
                  <a:cubicBezTo>
                    <a:pt x="0" y="46736"/>
                    <a:pt x="46736" y="0"/>
                    <a:pt x="104394" y="0"/>
                  </a:cubicBezTo>
                  <a:lnTo>
                    <a:pt x="3692017" y="0"/>
                  </a:lnTo>
                  <a:cubicBezTo>
                    <a:pt x="3749675" y="0"/>
                    <a:pt x="3796411" y="46736"/>
                    <a:pt x="3796411" y="104394"/>
                  </a:cubicBezTo>
                  <a:lnTo>
                    <a:pt x="3796411" y="522097"/>
                  </a:lnTo>
                  <a:cubicBezTo>
                    <a:pt x="3796411" y="579755"/>
                    <a:pt x="3749675" y="626491"/>
                    <a:pt x="3692017" y="626491"/>
                  </a:cubicBezTo>
                  <a:lnTo>
                    <a:pt x="104394" y="626491"/>
                  </a:lnTo>
                  <a:cubicBezTo>
                    <a:pt x="46736" y="626491"/>
                    <a:pt x="0" y="579755"/>
                    <a:pt x="0" y="522097"/>
                  </a:cubicBezTo>
                  <a:close/>
                </a:path>
              </a:pathLst>
            </a:custGeom>
            <a:solidFill>
              <a:srgbClr val="D8A790"/>
            </a:solidFill>
            <a:ln w="12700" cap="sq">
              <a:solidFill>
                <a:srgbClr val="1E6F8E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4081760" y="6885432"/>
            <a:ext cx="2834640" cy="457200"/>
            <a:chOff x="0" y="0"/>
            <a:chExt cx="3779520" cy="6096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779520" cy="609600"/>
            </a:xfrm>
            <a:custGeom>
              <a:avLst/>
              <a:gdLst/>
              <a:ahLst/>
              <a:cxnLst/>
              <a:rect r="r" b="b" t="t" l="l"/>
              <a:pathLst>
                <a:path h="60960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377952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0"/>
                </a:lnSpc>
              </a:pPr>
              <a:r>
                <a:rPr lang="en-US" sz="1550">
                  <a:solidFill>
                    <a:srgbClr val="9B4922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Combinational Logic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149327" y="7409431"/>
            <a:ext cx="2847337" cy="469897"/>
            <a:chOff x="0" y="0"/>
            <a:chExt cx="3796449" cy="62652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796411" cy="626491"/>
            </a:xfrm>
            <a:custGeom>
              <a:avLst/>
              <a:gdLst/>
              <a:ahLst/>
              <a:cxnLst/>
              <a:rect r="r" b="b" t="t" l="l"/>
              <a:pathLst>
                <a:path h="626491" w="3796411">
                  <a:moveTo>
                    <a:pt x="0" y="104394"/>
                  </a:moveTo>
                  <a:cubicBezTo>
                    <a:pt x="0" y="46736"/>
                    <a:pt x="46736" y="0"/>
                    <a:pt x="104394" y="0"/>
                  </a:cubicBezTo>
                  <a:lnTo>
                    <a:pt x="3692017" y="0"/>
                  </a:lnTo>
                  <a:cubicBezTo>
                    <a:pt x="3749675" y="0"/>
                    <a:pt x="3796411" y="46736"/>
                    <a:pt x="3796411" y="104394"/>
                  </a:cubicBezTo>
                  <a:lnTo>
                    <a:pt x="3796411" y="522097"/>
                  </a:lnTo>
                  <a:cubicBezTo>
                    <a:pt x="3796411" y="579755"/>
                    <a:pt x="3749675" y="626491"/>
                    <a:pt x="3692017" y="626491"/>
                  </a:cubicBezTo>
                  <a:lnTo>
                    <a:pt x="104394" y="626491"/>
                  </a:lnTo>
                  <a:cubicBezTo>
                    <a:pt x="46736" y="626491"/>
                    <a:pt x="0" y="579755"/>
                    <a:pt x="0" y="522097"/>
                  </a:cubicBezTo>
                  <a:close/>
                </a:path>
              </a:pathLst>
            </a:custGeom>
            <a:solidFill>
              <a:srgbClr val="D8A790"/>
            </a:solidFill>
            <a:ln w="12700" cap="sq">
              <a:solidFill>
                <a:srgbClr val="1E6F8E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1155680" y="7415784"/>
            <a:ext cx="2834640" cy="457200"/>
            <a:chOff x="0" y="0"/>
            <a:chExt cx="3779520" cy="6096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779520" cy="609600"/>
            </a:xfrm>
            <a:custGeom>
              <a:avLst/>
              <a:gdLst/>
              <a:ahLst/>
              <a:cxnLst/>
              <a:rect r="r" b="b" t="t" l="l"/>
              <a:pathLst>
                <a:path h="60960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377952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0"/>
                </a:lnSpc>
              </a:pPr>
              <a:r>
                <a:rPr lang="en-US" sz="1550">
                  <a:solidFill>
                    <a:srgbClr val="9B4922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Digital Circuit Design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075407" y="7409431"/>
            <a:ext cx="2847337" cy="469897"/>
            <a:chOff x="0" y="0"/>
            <a:chExt cx="3796449" cy="62652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796411" cy="626491"/>
            </a:xfrm>
            <a:custGeom>
              <a:avLst/>
              <a:gdLst/>
              <a:ahLst/>
              <a:cxnLst/>
              <a:rect r="r" b="b" t="t" l="l"/>
              <a:pathLst>
                <a:path h="626491" w="3796411">
                  <a:moveTo>
                    <a:pt x="0" y="104394"/>
                  </a:moveTo>
                  <a:cubicBezTo>
                    <a:pt x="0" y="46736"/>
                    <a:pt x="46736" y="0"/>
                    <a:pt x="104394" y="0"/>
                  </a:cubicBezTo>
                  <a:lnTo>
                    <a:pt x="3692017" y="0"/>
                  </a:lnTo>
                  <a:cubicBezTo>
                    <a:pt x="3749675" y="0"/>
                    <a:pt x="3796411" y="46736"/>
                    <a:pt x="3796411" y="104394"/>
                  </a:cubicBezTo>
                  <a:lnTo>
                    <a:pt x="3796411" y="522097"/>
                  </a:lnTo>
                  <a:cubicBezTo>
                    <a:pt x="3796411" y="579755"/>
                    <a:pt x="3749675" y="626491"/>
                    <a:pt x="3692017" y="626491"/>
                  </a:cubicBezTo>
                  <a:lnTo>
                    <a:pt x="104394" y="626491"/>
                  </a:lnTo>
                  <a:cubicBezTo>
                    <a:pt x="46736" y="626491"/>
                    <a:pt x="0" y="579755"/>
                    <a:pt x="0" y="522097"/>
                  </a:cubicBezTo>
                  <a:close/>
                </a:path>
              </a:pathLst>
            </a:custGeom>
            <a:solidFill>
              <a:srgbClr val="D8A790"/>
            </a:solidFill>
            <a:ln w="12700" cap="sq">
              <a:solidFill>
                <a:srgbClr val="1E6F8E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4081760" y="7415784"/>
            <a:ext cx="2834640" cy="457200"/>
            <a:chOff x="0" y="0"/>
            <a:chExt cx="3779520" cy="609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779520" cy="609600"/>
            </a:xfrm>
            <a:custGeom>
              <a:avLst/>
              <a:gdLst/>
              <a:ahLst/>
              <a:cxnLst/>
              <a:rect r="r" b="b" t="t" l="l"/>
              <a:pathLst>
                <a:path h="60960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377952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0"/>
                </a:lnSpc>
              </a:pPr>
              <a:r>
                <a:rPr lang="en-US" sz="1550">
                  <a:solidFill>
                    <a:srgbClr val="9B4922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Water-Level Sensors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149327" y="7939783"/>
            <a:ext cx="2847337" cy="469897"/>
            <a:chOff x="0" y="0"/>
            <a:chExt cx="3796449" cy="62652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796411" cy="626491"/>
            </a:xfrm>
            <a:custGeom>
              <a:avLst/>
              <a:gdLst/>
              <a:ahLst/>
              <a:cxnLst/>
              <a:rect r="r" b="b" t="t" l="l"/>
              <a:pathLst>
                <a:path h="626491" w="3796411">
                  <a:moveTo>
                    <a:pt x="0" y="104394"/>
                  </a:moveTo>
                  <a:cubicBezTo>
                    <a:pt x="0" y="46736"/>
                    <a:pt x="46736" y="0"/>
                    <a:pt x="104394" y="0"/>
                  </a:cubicBezTo>
                  <a:lnTo>
                    <a:pt x="3692017" y="0"/>
                  </a:lnTo>
                  <a:cubicBezTo>
                    <a:pt x="3749675" y="0"/>
                    <a:pt x="3796411" y="46736"/>
                    <a:pt x="3796411" y="104394"/>
                  </a:cubicBezTo>
                  <a:lnTo>
                    <a:pt x="3796411" y="522097"/>
                  </a:lnTo>
                  <a:cubicBezTo>
                    <a:pt x="3796411" y="579755"/>
                    <a:pt x="3749675" y="626491"/>
                    <a:pt x="3692017" y="626491"/>
                  </a:cubicBezTo>
                  <a:lnTo>
                    <a:pt x="104394" y="626491"/>
                  </a:lnTo>
                  <a:cubicBezTo>
                    <a:pt x="46736" y="626491"/>
                    <a:pt x="0" y="579755"/>
                    <a:pt x="0" y="522097"/>
                  </a:cubicBezTo>
                  <a:close/>
                </a:path>
              </a:pathLst>
            </a:custGeom>
            <a:solidFill>
              <a:srgbClr val="D8A790"/>
            </a:solidFill>
            <a:ln w="12700" cap="sq">
              <a:solidFill>
                <a:srgbClr val="1E6F8E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1155680" y="7946136"/>
            <a:ext cx="2834640" cy="457200"/>
            <a:chOff x="0" y="0"/>
            <a:chExt cx="3779520" cy="6096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779520" cy="609600"/>
            </a:xfrm>
            <a:custGeom>
              <a:avLst/>
              <a:gdLst/>
              <a:ahLst/>
              <a:cxnLst/>
              <a:rect r="r" b="b" t="t" l="l"/>
              <a:pathLst>
                <a:path h="60960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377952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0"/>
                </a:lnSpc>
              </a:pPr>
              <a:r>
                <a:rPr lang="en-US" sz="1550">
                  <a:solidFill>
                    <a:srgbClr val="9B4922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Automation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075407" y="7939783"/>
            <a:ext cx="2847337" cy="469897"/>
            <a:chOff x="0" y="0"/>
            <a:chExt cx="3796449" cy="62652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796411" cy="626491"/>
            </a:xfrm>
            <a:custGeom>
              <a:avLst/>
              <a:gdLst/>
              <a:ahLst/>
              <a:cxnLst/>
              <a:rect r="r" b="b" t="t" l="l"/>
              <a:pathLst>
                <a:path h="626491" w="3796411">
                  <a:moveTo>
                    <a:pt x="0" y="104394"/>
                  </a:moveTo>
                  <a:cubicBezTo>
                    <a:pt x="0" y="46736"/>
                    <a:pt x="46736" y="0"/>
                    <a:pt x="104394" y="0"/>
                  </a:cubicBezTo>
                  <a:lnTo>
                    <a:pt x="3692017" y="0"/>
                  </a:lnTo>
                  <a:cubicBezTo>
                    <a:pt x="3749675" y="0"/>
                    <a:pt x="3796411" y="46736"/>
                    <a:pt x="3796411" y="104394"/>
                  </a:cubicBezTo>
                  <a:lnTo>
                    <a:pt x="3796411" y="522097"/>
                  </a:lnTo>
                  <a:cubicBezTo>
                    <a:pt x="3796411" y="579755"/>
                    <a:pt x="3749675" y="626491"/>
                    <a:pt x="3692017" y="626491"/>
                  </a:cubicBezTo>
                  <a:lnTo>
                    <a:pt x="104394" y="626491"/>
                  </a:lnTo>
                  <a:cubicBezTo>
                    <a:pt x="46736" y="626491"/>
                    <a:pt x="0" y="579755"/>
                    <a:pt x="0" y="522097"/>
                  </a:cubicBezTo>
                  <a:close/>
                </a:path>
              </a:pathLst>
            </a:custGeom>
            <a:solidFill>
              <a:srgbClr val="D8A790"/>
            </a:solidFill>
            <a:ln w="12700" cap="sq">
              <a:solidFill>
                <a:srgbClr val="1E6F8E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4081760" y="7946136"/>
            <a:ext cx="2834640" cy="457200"/>
            <a:chOff x="0" y="0"/>
            <a:chExt cx="3779520" cy="6096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3779520" cy="609600"/>
            </a:xfrm>
            <a:custGeom>
              <a:avLst/>
              <a:gdLst/>
              <a:ahLst/>
              <a:cxnLst/>
              <a:rect r="r" b="b" t="t" l="l"/>
              <a:pathLst>
                <a:path h="609600" w="3779520">
                  <a:moveTo>
                    <a:pt x="0" y="0"/>
                  </a:moveTo>
                  <a:lnTo>
                    <a:pt x="3779520" y="0"/>
                  </a:lnTo>
                  <a:lnTo>
                    <a:pt x="377952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3779520" cy="609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60"/>
                </a:lnSpc>
              </a:pPr>
              <a:r>
                <a:rPr lang="en-US" sz="1550">
                  <a:solidFill>
                    <a:srgbClr val="9B4922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Resource Management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087755" y="8677275"/>
            <a:ext cx="16112490" cy="750570"/>
            <a:chOff x="0" y="0"/>
            <a:chExt cx="21483320" cy="100076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1483320" cy="1000760"/>
            </a:xfrm>
            <a:custGeom>
              <a:avLst/>
              <a:gdLst/>
              <a:ahLst/>
              <a:cxnLst/>
              <a:rect r="r" b="b" t="t" l="l"/>
              <a:pathLst>
                <a:path h="1000760" w="21483320">
                  <a:moveTo>
                    <a:pt x="0" y="0"/>
                  </a:moveTo>
                  <a:lnTo>
                    <a:pt x="21483320" y="0"/>
                  </a:lnTo>
                  <a:lnTo>
                    <a:pt x="21483320" y="1000760"/>
                  </a:lnTo>
                  <a:lnTo>
                    <a:pt x="0" y="1000760"/>
                  </a:lnTo>
                  <a:close/>
                </a:path>
              </a:pathLst>
            </a:custGeom>
            <a:solidFill>
              <a:srgbClr val="764B36"/>
            </a:solidFill>
            <a:ln w="19050" cap="sq">
              <a:solidFill>
                <a:srgbClr val="CFC6B2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371600" y="8686800"/>
            <a:ext cx="15544800" cy="731520"/>
            <a:chOff x="0" y="0"/>
            <a:chExt cx="20726400" cy="97536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0726400" cy="975360"/>
            </a:xfrm>
            <a:custGeom>
              <a:avLst/>
              <a:gdLst/>
              <a:ahLst/>
              <a:cxnLst/>
              <a:rect r="r" b="b" t="t" l="l"/>
              <a:pathLst>
                <a:path h="97536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9525"/>
              <a:ext cx="20726400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EFE7DD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In one line: three sensors + a few gates + a pump; the circuit itself is the controller.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7280" y="576072"/>
            <a:ext cx="2056061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320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01  CONTEXT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60845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5709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0573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97280" y="1097280"/>
            <a:ext cx="16093440" cy="1188720"/>
            <a:chOff x="0" y="0"/>
            <a:chExt cx="21457920" cy="1584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79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3797" r="0" b="-21379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45792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spc="-88">
                  <a:solidFill>
                    <a:srgbClr val="764B36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How the project maps to DDCA</a:t>
              </a:r>
            </a:p>
          </p:txBody>
        </p:sp>
      </p:grpSp>
      <p:sp>
        <p:nvSpPr>
          <p:cNvPr name="AutoShape 9" id="9"/>
          <p:cNvSpPr/>
          <p:nvPr/>
        </p:nvSpPr>
        <p:spPr>
          <a:xfrm rot="2040">
            <a:off x="1083374" y="2400110"/>
            <a:ext cx="16121253" cy="0"/>
          </a:xfrm>
          <a:prstGeom prst="line">
            <a:avLst/>
          </a:prstGeom>
          <a:ln cap="rnd" w="9525">
            <a:solidFill>
              <a:srgbClr val="764B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97280" y="9646920"/>
            <a:ext cx="681484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Smart Water Tank Overflow Protection &amp; Pump Control  ·  DDCA  ·  Batch 09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678900" y="9646920"/>
            <a:ext cx="51182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03 / 13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7280" y="2651760"/>
            <a:ext cx="564147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320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COURSE / HANDOUT CONNECTION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097280" y="3154680"/>
          <a:ext cx="8585200" cy="5219700"/>
        </p:xfrm>
        <a:graphic>
          <a:graphicData uri="http://schemas.openxmlformats.org/drawingml/2006/table">
            <a:tbl>
              <a:tblPr/>
              <a:tblGrid>
                <a:gridCol w="2745444"/>
                <a:gridCol w="5839756"/>
              </a:tblGrid>
              <a:tr h="10439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8"/>
                        </a:lnSpc>
                        <a:defRPr/>
                      </a:pPr>
                      <a:r>
                        <a:rPr lang="en-US" sz="17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Module 1 — Foundations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9B4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774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8"/>
                        </a:lnSpc>
                        <a:defRPr/>
                      </a:pPr>
                      <a:r>
                        <a:rPr lang="en-US" sz="17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Logic gates, truth tables, Boolean basics, truth table → SOP → gates.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774C"/>
                    </a:solidFill>
                  </a:tcPr>
                </a:tc>
              </a:tr>
              <a:tr h="122290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8"/>
                        </a:lnSpc>
                        <a:defRPr/>
                      </a:pPr>
                      <a:r>
                        <a:rPr lang="en-US" sz="17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Module 2 — Combinational logic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774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8"/>
                        </a:lnSpc>
                        <a:defRPr/>
                      </a:pPr>
                      <a:r>
                        <a:rPr lang="en-US" sz="17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Outputs depend only on current inputs; use K-map simplification and specification-based design.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774C"/>
                    </a:solidFill>
                  </a:tcPr>
                </a:tc>
              </a:tr>
              <a:tr h="86497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8"/>
                        </a:lnSpc>
                        <a:defRPr/>
                      </a:pPr>
                      <a:r>
                        <a:rPr lang="en-US" sz="17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Session 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774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8"/>
                        </a:lnSpc>
                        <a:defRPr/>
                      </a:pPr>
                      <a:r>
                        <a:rPr lang="en-US" sz="17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Design methodology and case-study implementation.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774C"/>
                    </a:solidFill>
                  </a:tcPr>
                </a:tc>
              </a:tr>
              <a:tr h="10439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8"/>
                        </a:lnSpc>
                        <a:defRPr/>
                      </a:pPr>
                      <a:r>
                        <a:rPr lang="en-US" sz="17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CO1 / CO2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774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8"/>
                        </a:lnSpc>
                        <a:defRPr/>
                      </a:pPr>
                      <a:r>
                        <a:rPr lang="en-US" sz="17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Apply Boolean algebra and gates; design and simulate a combinational circuit.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774C"/>
                    </a:solidFill>
                  </a:tcPr>
                </a:tc>
              </a:tr>
              <a:tr h="104394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8"/>
                        </a:lnSpc>
                        <a:defRPr/>
                      </a:pPr>
                      <a:r>
                        <a:rPr lang="en-US" sz="17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Tools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774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38"/>
                        </a:lnSpc>
                        <a:defRPr/>
                      </a:pPr>
                      <a:r>
                        <a:rPr lang="en-US" sz="17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Logisim Evolution for simulation; Git and GitHub for version control.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774C"/>
                    </a:solidFill>
                  </a:tcPr>
                </a:tc>
              </a:tr>
            </a:tbl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9966960" y="2651760"/>
            <a:ext cx="4456361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320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SEVEN-STEP DESIGN FLOW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57435" y="3145155"/>
            <a:ext cx="613410" cy="613410"/>
            <a:chOff x="0" y="0"/>
            <a:chExt cx="817880" cy="8178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7880" cy="817880"/>
            </a:xfrm>
            <a:custGeom>
              <a:avLst/>
              <a:gdLst/>
              <a:ahLst/>
              <a:cxnLst/>
              <a:rect r="r" b="b" t="t" l="l"/>
              <a:pathLst>
                <a:path h="817880" w="817880">
                  <a:moveTo>
                    <a:pt x="0" y="0"/>
                  </a:moveTo>
                  <a:lnTo>
                    <a:pt x="817880" y="0"/>
                  </a:lnTo>
                  <a:lnTo>
                    <a:pt x="817880" y="817880"/>
                  </a:lnTo>
                  <a:lnTo>
                    <a:pt x="0" y="817880"/>
                  </a:lnTo>
                  <a:close/>
                </a:path>
              </a:pathLst>
            </a:custGeom>
            <a:solidFill>
              <a:srgbClr val="D1774C"/>
            </a:solidFill>
            <a:ln w="19050" cap="sq">
              <a:solidFill>
                <a:srgbClr val="1E6F8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966960" y="3154680"/>
            <a:ext cx="594360" cy="594360"/>
            <a:chOff x="0" y="0"/>
            <a:chExt cx="792480" cy="7924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792480" cy="782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spc="384">
                  <a:solidFill>
                    <a:srgbClr val="EFE7D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789920" y="3127248"/>
            <a:ext cx="133662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1950" spc="312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SPECIFY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789920" y="3475101"/>
            <a:ext cx="2671762" cy="23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4"/>
              </a:lnSpc>
            </a:pPr>
            <a:r>
              <a:rPr lang="en-US" sz="1625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Inputs, outputs and behaviour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957435" y="3922395"/>
            <a:ext cx="613410" cy="613410"/>
            <a:chOff x="0" y="0"/>
            <a:chExt cx="817880" cy="8178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7880" cy="817880"/>
            </a:xfrm>
            <a:custGeom>
              <a:avLst/>
              <a:gdLst/>
              <a:ahLst/>
              <a:cxnLst/>
              <a:rect r="r" b="b" t="t" l="l"/>
              <a:pathLst>
                <a:path h="817880" w="817880">
                  <a:moveTo>
                    <a:pt x="0" y="0"/>
                  </a:moveTo>
                  <a:lnTo>
                    <a:pt x="817880" y="0"/>
                  </a:lnTo>
                  <a:lnTo>
                    <a:pt x="817880" y="817880"/>
                  </a:lnTo>
                  <a:lnTo>
                    <a:pt x="0" y="817880"/>
                  </a:lnTo>
                  <a:close/>
                </a:path>
              </a:pathLst>
            </a:custGeom>
            <a:solidFill>
              <a:srgbClr val="D1774C"/>
            </a:solidFill>
            <a:ln w="19050" cap="sq">
              <a:solidFill>
                <a:srgbClr val="1E6F8E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966960" y="3931920"/>
            <a:ext cx="594360" cy="594360"/>
            <a:chOff x="0" y="0"/>
            <a:chExt cx="792480" cy="7924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792480" cy="782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spc="384">
                  <a:solidFill>
                    <a:srgbClr val="EFE7D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0789920" y="3904488"/>
            <a:ext cx="2167533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1950" spc="312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TRUTH TABLE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789920" y="4252341"/>
            <a:ext cx="1535460" cy="23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4"/>
              </a:lnSpc>
            </a:pPr>
            <a:r>
              <a:rPr lang="en-US" sz="1625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All 8 sensor cases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957435" y="4699635"/>
            <a:ext cx="613410" cy="613410"/>
            <a:chOff x="0" y="0"/>
            <a:chExt cx="817880" cy="8178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7880" cy="817880"/>
            </a:xfrm>
            <a:custGeom>
              <a:avLst/>
              <a:gdLst/>
              <a:ahLst/>
              <a:cxnLst/>
              <a:rect r="r" b="b" t="t" l="l"/>
              <a:pathLst>
                <a:path h="817880" w="817880">
                  <a:moveTo>
                    <a:pt x="0" y="0"/>
                  </a:moveTo>
                  <a:lnTo>
                    <a:pt x="817880" y="0"/>
                  </a:lnTo>
                  <a:lnTo>
                    <a:pt x="817880" y="817880"/>
                  </a:lnTo>
                  <a:lnTo>
                    <a:pt x="0" y="817880"/>
                  </a:lnTo>
                  <a:close/>
                </a:path>
              </a:pathLst>
            </a:custGeom>
            <a:solidFill>
              <a:srgbClr val="D1774C"/>
            </a:solidFill>
            <a:ln w="19050" cap="sq">
              <a:solidFill>
                <a:srgbClr val="1E6F8E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966960" y="4709160"/>
            <a:ext cx="594360" cy="594360"/>
            <a:chOff x="0" y="0"/>
            <a:chExt cx="792480" cy="7924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9525"/>
              <a:ext cx="792480" cy="782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spc="384">
                  <a:solidFill>
                    <a:srgbClr val="EFE7D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789920" y="4681728"/>
            <a:ext cx="221679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1950" spc="312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EXPRESSIONS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789920" y="5029581"/>
            <a:ext cx="1511201" cy="23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4"/>
              </a:lnSpc>
            </a:pPr>
            <a:r>
              <a:rPr lang="en-US" sz="1625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Sum-of-products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957435" y="5476875"/>
            <a:ext cx="613410" cy="613410"/>
            <a:chOff x="0" y="0"/>
            <a:chExt cx="817880" cy="8178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7880" cy="817880"/>
            </a:xfrm>
            <a:custGeom>
              <a:avLst/>
              <a:gdLst/>
              <a:ahLst/>
              <a:cxnLst/>
              <a:rect r="r" b="b" t="t" l="l"/>
              <a:pathLst>
                <a:path h="817880" w="817880">
                  <a:moveTo>
                    <a:pt x="0" y="0"/>
                  </a:moveTo>
                  <a:lnTo>
                    <a:pt x="817880" y="0"/>
                  </a:lnTo>
                  <a:lnTo>
                    <a:pt x="817880" y="817880"/>
                  </a:lnTo>
                  <a:lnTo>
                    <a:pt x="0" y="817880"/>
                  </a:lnTo>
                  <a:close/>
                </a:path>
              </a:pathLst>
            </a:custGeom>
            <a:solidFill>
              <a:srgbClr val="D1774C"/>
            </a:solidFill>
            <a:ln w="19050" cap="sq">
              <a:solidFill>
                <a:srgbClr val="1E6F8E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966960" y="5486400"/>
            <a:ext cx="594360" cy="594360"/>
            <a:chOff x="0" y="0"/>
            <a:chExt cx="792480" cy="7924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9525"/>
              <a:ext cx="792480" cy="782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spc="384">
                  <a:solidFill>
                    <a:srgbClr val="EFE7D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10789920" y="5458968"/>
            <a:ext cx="1490662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1950" spc="312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SIMPLIFY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789920" y="5806821"/>
            <a:ext cx="2406104" cy="23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4"/>
              </a:lnSpc>
            </a:pPr>
            <a:r>
              <a:rPr lang="en-US" sz="1625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Boolean algebra and K-map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957435" y="6254115"/>
            <a:ext cx="613410" cy="613410"/>
            <a:chOff x="0" y="0"/>
            <a:chExt cx="817880" cy="8178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7880" cy="817880"/>
            </a:xfrm>
            <a:custGeom>
              <a:avLst/>
              <a:gdLst/>
              <a:ahLst/>
              <a:cxnLst/>
              <a:rect r="r" b="b" t="t" l="l"/>
              <a:pathLst>
                <a:path h="817880" w="817880">
                  <a:moveTo>
                    <a:pt x="0" y="0"/>
                  </a:moveTo>
                  <a:lnTo>
                    <a:pt x="817880" y="0"/>
                  </a:lnTo>
                  <a:lnTo>
                    <a:pt x="817880" y="817880"/>
                  </a:lnTo>
                  <a:lnTo>
                    <a:pt x="0" y="817880"/>
                  </a:lnTo>
                  <a:close/>
                </a:path>
              </a:pathLst>
            </a:custGeom>
            <a:solidFill>
              <a:srgbClr val="D1774C"/>
            </a:solidFill>
            <a:ln w="19050" cap="sq">
              <a:solidFill>
                <a:srgbClr val="1E6F8E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9966960" y="6263640"/>
            <a:ext cx="594360" cy="594360"/>
            <a:chOff x="0" y="0"/>
            <a:chExt cx="792480" cy="7924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9525"/>
              <a:ext cx="792480" cy="782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spc="384">
                  <a:solidFill>
                    <a:srgbClr val="EFE7D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0789920" y="6236208"/>
            <a:ext cx="1018729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1950" spc="312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GATES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789920" y="6584061"/>
            <a:ext cx="1430089" cy="23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4"/>
              </a:lnSpc>
            </a:pPr>
            <a:r>
              <a:rPr lang="en-US" sz="1625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Draw the circuit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957435" y="7031355"/>
            <a:ext cx="613410" cy="613410"/>
            <a:chOff x="0" y="0"/>
            <a:chExt cx="817880" cy="8178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7880" cy="817880"/>
            </a:xfrm>
            <a:custGeom>
              <a:avLst/>
              <a:gdLst/>
              <a:ahLst/>
              <a:cxnLst/>
              <a:rect r="r" b="b" t="t" l="l"/>
              <a:pathLst>
                <a:path h="817880" w="817880">
                  <a:moveTo>
                    <a:pt x="0" y="0"/>
                  </a:moveTo>
                  <a:lnTo>
                    <a:pt x="817880" y="0"/>
                  </a:lnTo>
                  <a:lnTo>
                    <a:pt x="817880" y="817880"/>
                  </a:lnTo>
                  <a:lnTo>
                    <a:pt x="0" y="817880"/>
                  </a:lnTo>
                  <a:close/>
                </a:path>
              </a:pathLst>
            </a:custGeom>
            <a:solidFill>
              <a:srgbClr val="D1774C"/>
            </a:solidFill>
            <a:ln w="19050" cap="sq">
              <a:solidFill>
                <a:srgbClr val="1E6F8E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966960" y="7040880"/>
            <a:ext cx="594360" cy="594360"/>
            <a:chOff x="0" y="0"/>
            <a:chExt cx="792480" cy="7924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9525"/>
              <a:ext cx="792480" cy="782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spc="384">
                  <a:solidFill>
                    <a:srgbClr val="EFE7D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6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0789920" y="7013448"/>
            <a:ext cx="1599902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1950" spc="312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SIMULATE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789920" y="7361301"/>
            <a:ext cx="2016621" cy="23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4"/>
              </a:lnSpc>
            </a:pPr>
            <a:r>
              <a:rPr lang="en-US" sz="1625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Use Logisim Evolution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9957435" y="7808595"/>
            <a:ext cx="613410" cy="613410"/>
            <a:chOff x="0" y="0"/>
            <a:chExt cx="817880" cy="8178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7880" cy="817880"/>
            </a:xfrm>
            <a:custGeom>
              <a:avLst/>
              <a:gdLst/>
              <a:ahLst/>
              <a:cxnLst/>
              <a:rect r="r" b="b" t="t" l="l"/>
              <a:pathLst>
                <a:path h="817880" w="817880">
                  <a:moveTo>
                    <a:pt x="0" y="0"/>
                  </a:moveTo>
                  <a:lnTo>
                    <a:pt x="817880" y="0"/>
                  </a:lnTo>
                  <a:lnTo>
                    <a:pt x="817880" y="817880"/>
                  </a:lnTo>
                  <a:lnTo>
                    <a:pt x="0" y="817880"/>
                  </a:lnTo>
                  <a:close/>
                </a:path>
              </a:pathLst>
            </a:custGeom>
            <a:solidFill>
              <a:srgbClr val="D1774C"/>
            </a:solidFill>
            <a:ln w="19050" cap="sq">
              <a:solidFill>
                <a:srgbClr val="1E6F8E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9966960" y="7818120"/>
            <a:ext cx="594360" cy="594360"/>
            <a:chOff x="0" y="0"/>
            <a:chExt cx="792480" cy="7924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92480" cy="792480"/>
            </a:xfrm>
            <a:custGeom>
              <a:avLst/>
              <a:gdLst/>
              <a:ahLst/>
              <a:cxnLst/>
              <a:rect r="r" b="b" t="t" l="l"/>
              <a:pathLst>
                <a:path h="792480" w="792480">
                  <a:moveTo>
                    <a:pt x="0" y="0"/>
                  </a:moveTo>
                  <a:lnTo>
                    <a:pt x="792480" y="0"/>
                  </a:lnTo>
                  <a:lnTo>
                    <a:pt x="792480" y="792480"/>
                  </a:lnTo>
                  <a:lnTo>
                    <a:pt x="0" y="7924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9525"/>
              <a:ext cx="792480" cy="782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spc="384">
                  <a:solidFill>
                    <a:srgbClr val="EFE7D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7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0789920" y="7790688"/>
            <a:ext cx="1140470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2"/>
              </a:lnSpc>
            </a:pPr>
            <a:r>
              <a:rPr lang="en-US" sz="1950" spc="312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VERIFY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789920" y="8138541"/>
            <a:ext cx="2939504" cy="230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4"/>
              </a:lnSpc>
            </a:pPr>
            <a:r>
              <a:rPr lang="en-US" sz="1625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Match circuit outputs to the table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087755" y="8722995"/>
            <a:ext cx="16112490" cy="704850"/>
            <a:chOff x="0" y="0"/>
            <a:chExt cx="21483320" cy="939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483320" cy="939800"/>
            </a:xfrm>
            <a:custGeom>
              <a:avLst/>
              <a:gdLst/>
              <a:ahLst/>
              <a:cxnLst/>
              <a:rect r="r" b="b" t="t" l="l"/>
              <a:pathLst>
                <a:path h="939800" w="21483320">
                  <a:moveTo>
                    <a:pt x="0" y="0"/>
                  </a:moveTo>
                  <a:lnTo>
                    <a:pt x="21483320" y="0"/>
                  </a:lnTo>
                  <a:lnTo>
                    <a:pt x="21483320" y="939800"/>
                  </a:lnTo>
                  <a:lnTo>
                    <a:pt x="0" y="939800"/>
                  </a:lnTo>
                  <a:close/>
                </a:path>
              </a:pathLst>
            </a:custGeom>
            <a:solidFill>
              <a:srgbClr val="764B36"/>
            </a:solidFill>
            <a:ln w="19050" cap="sq">
              <a:solidFill>
                <a:srgbClr val="CFC6B2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371600" y="8732520"/>
            <a:ext cx="15544800" cy="685800"/>
            <a:chOff x="0" y="0"/>
            <a:chExt cx="20726400" cy="9144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072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1660" r="0" b="-39166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9525"/>
              <a:ext cx="20726400" cy="904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>
                  <a:solidFill>
                    <a:srgbClr val="EFE7DD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Steps 1–5 are designed on paper; steps 6–7 verify that the circuit behaves like the truth table.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" y="3485272"/>
            <a:ext cx="3022881" cy="1073279"/>
            <a:chOff x="0" y="0"/>
            <a:chExt cx="6767576" cy="2402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767576" cy="2402840"/>
            </a:xfrm>
            <a:custGeom>
              <a:avLst/>
              <a:gdLst/>
              <a:ahLst/>
              <a:cxnLst/>
              <a:rect r="r" b="b" t="t" l="l"/>
              <a:pathLst>
                <a:path h="2402840" w="6767576">
                  <a:moveTo>
                    <a:pt x="0" y="0"/>
                  </a:moveTo>
                  <a:lnTo>
                    <a:pt x="6767576" y="0"/>
                  </a:lnTo>
                  <a:lnTo>
                    <a:pt x="6767576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9B4922"/>
            </a:solidFill>
            <a:ln w="19050" cap="sq">
              <a:solidFill>
                <a:srgbClr val="CFC6B2"/>
              </a:solidFill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003914" y="3572346"/>
            <a:ext cx="1639092" cy="15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8"/>
              </a:lnSpc>
            </a:pPr>
            <a:r>
              <a:rPr lang="en-US" sz="1057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WATER-LEVEL SENSORS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3914" y="3843347"/>
            <a:ext cx="2383255" cy="31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5"/>
              </a:lnSpc>
            </a:pPr>
            <a:r>
              <a:rPr lang="en-US" sz="1004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Low (L), Mid (M), High (H)</a:t>
            </a:r>
          </a:p>
          <a:p>
            <a:pPr algn="l">
              <a:lnSpc>
                <a:spcPts val="1205"/>
              </a:lnSpc>
            </a:pPr>
            <a:r>
              <a:rPr lang="en-US" sz="1004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 probe outputs 1 when wet.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532195" y="3490308"/>
            <a:ext cx="241709" cy="942667"/>
            <a:chOff x="0" y="0"/>
            <a:chExt cx="609600" cy="2377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096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50383" t="0" r="-45038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609600" cy="238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03"/>
                </a:lnSpc>
              </a:pPr>
              <a:r>
                <a:rPr lang="en-US" sz="1586" spc="253">
                  <a:solidFill>
                    <a:srgbClr val="9B4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768869" y="3485272"/>
            <a:ext cx="2683378" cy="952738"/>
            <a:chOff x="0" y="0"/>
            <a:chExt cx="6767576" cy="24028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767576" cy="2402840"/>
            </a:xfrm>
            <a:custGeom>
              <a:avLst/>
              <a:gdLst/>
              <a:ahLst/>
              <a:cxnLst/>
              <a:rect r="r" b="b" t="t" l="l"/>
              <a:pathLst>
                <a:path h="2402840" w="6767576">
                  <a:moveTo>
                    <a:pt x="0" y="0"/>
                  </a:moveTo>
                  <a:lnTo>
                    <a:pt x="6767576" y="0"/>
                  </a:lnTo>
                  <a:lnTo>
                    <a:pt x="6767576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9B4922"/>
            </a:solidFill>
            <a:ln w="19050" cap="sq">
              <a:solidFill>
                <a:srgbClr val="CFC6B2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3918930" y="3572346"/>
            <a:ext cx="841262" cy="15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8"/>
              </a:lnSpc>
            </a:pPr>
            <a:r>
              <a:rPr lang="en-US" sz="1057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LOGIC UNIT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18930" y="3843347"/>
            <a:ext cx="2383255" cy="31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5"/>
              </a:lnSpc>
            </a:pPr>
            <a:r>
              <a:rPr lang="en-US" sz="1004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NOT, AND and OR gates</a:t>
            </a:r>
          </a:p>
          <a:p>
            <a:pPr algn="l">
              <a:lnSpc>
                <a:spcPts val="1205"/>
              </a:lnSpc>
            </a:pPr>
            <a:r>
              <a:rPr lang="en-US" sz="1004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produce P and F.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447211" y="3490308"/>
            <a:ext cx="241709" cy="942667"/>
            <a:chOff x="0" y="0"/>
            <a:chExt cx="609600" cy="2377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96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450383" t="0" r="-45038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609600" cy="238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03"/>
                </a:lnSpc>
              </a:pPr>
              <a:r>
                <a:rPr lang="en-US" sz="1586" spc="253">
                  <a:solidFill>
                    <a:srgbClr val="9B4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→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683885" y="3485272"/>
            <a:ext cx="2683378" cy="952738"/>
            <a:chOff x="0" y="0"/>
            <a:chExt cx="6767576" cy="2402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767576" cy="2402840"/>
            </a:xfrm>
            <a:custGeom>
              <a:avLst/>
              <a:gdLst/>
              <a:ahLst/>
              <a:cxnLst/>
              <a:rect r="r" b="b" t="t" l="l"/>
              <a:pathLst>
                <a:path h="2402840" w="6767576">
                  <a:moveTo>
                    <a:pt x="0" y="0"/>
                  </a:moveTo>
                  <a:lnTo>
                    <a:pt x="6767576" y="0"/>
                  </a:lnTo>
                  <a:lnTo>
                    <a:pt x="6767576" y="2402840"/>
                  </a:lnTo>
                  <a:lnTo>
                    <a:pt x="0" y="2402840"/>
                  </a:lnTo>
                  <a:close/>
                </a:path>
              </a:pathLst>
            </a:custGeom>
            <a:solidFill>
              <a:srgbClr val="9B4922"/>
            </a:solidFill>
            <a:ln w="19050" cap="sq">
              <a:solidFill>
                <a:srgbClr val="CFC6B2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6833946" y="3572346"/>
            <a:ext cx="937804" cy="15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8"/>
              </a:lnSpc>
            </a:pPr>
            <a:r>
              <a:rPr lang="en-US" sz="1057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PUMP / FAULT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33946" y="3843347"/>
            <a:ext cx="2383255" cy="311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5"/>
              </a:lnSpc>
            </a:pPr>
            <a:r>
              <a:rPr lang="en-US" sz="1004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 controls the pump;</a:t>
            </a:r>
          </a:p>
          <a:p>
            <a:pPr algn="l">
              <a:lnSpc>
                <a:spcPts val="1205"/>
              </a:lnSpc>
            </a:pPr>
            <a:r>
              <a:rPr lang="en-US" sz="1004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 lights on impossible readings.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8888" y="4611696"/>
            <a:ext cx="1452775" cy="15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8"/>
              </a:lnSpc>
            </a:pPr>
            <a:r>
              <a:rPr lang="en-US" sz="1057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SIGNAL DEFINITIONS</a:t>
            </a:r>
          </a:p>
        </p:txBody>
      </p:sp>
      <p:graphicFrame>
        <p:nvGraphicFramePr>
          <p:cNvPr name="Table 21" id="21"/>
          <p:cNvGraphicFramePr>
            <a:graphicFrameLocks noGrp="true"/>
          </p:cNvGraphicFramePr>
          <p:nvPr/>
        </p:nvGraphicFramePr>
        <p:xfrm>
          <a:off x="858888" y="4868052"/>
          <a:ext cx="4196345" cy="1933676"/>
        </p:xfrm>
        <a:graphic>
          <a:graphicData uri="http://schemas.openxmlformats.org/drawingml/2006/table">
            <a:tbl>
              <a:tblPr/>
              <a:tblGrid>
                <a:gridCol w="679408"/>
                <a:gridCol w="823283"/>
                <a:gridCol w="2693654"/>
              </a:tblGrid>
              <a:tr h="3222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077"/>
                        </a:lnSpc>
                        <a:defRPr/>
                      </a:pPr>
                      <a:r>
                        <a:rPr lang="en-US" sz="898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Signal</a:t>
                      </a:r>
                      <a:endParaRPr lang="en-US" sz="1100"/>
                    </a:p>
                  </a:txBody>
                  <a:tcPr marL="48342" marR="48342" marT="48342" marB="48342" anchor="ctr">
                    <a:lnL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28">
                      <a:solidFill>
                        <a:srgbClr val="9B4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8A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077"/>
                        </a:lnSpc>
                        <a:defRPr/>
                      </a:pPr>
                      <a:r>
                        <a:rPr lang="en-US" sz="898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Type</a:t>
                      </a:r>
                      <a:endParaRPr lang="en-US" sz="1100"/>
                    </a:p>
                  </a:txBody>
                  <a:tcPr marL="48342" marR="48342" marT="48342" marB="48342" anchor="ctr">
                    <a:lnL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28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8A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077"/>
                        </a:lnSpc>
                        <a:defRPr/>
                      </a:pPr>
                      <a:r>
                        <a:rPr lang="en-US" sz="898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Meaning when 1</a:t>
                      </a:r>
                      <a:endParaRPr lang="en-US" sz="1100"/>
                    </a:p>
                  </a:txBody>
                  <a:tcPr marL="48342" marR="48342" marT="48342" marB="48342" anchor="ctr">
                    <a:lnL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28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8A36"/>
                    </a:solidFill>
                  </a:tcPr>
                </a:tc>
              </a:tr>
              <a:tr h="3222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05"/>
                        </a:lnSpc>
                        <a:defRPr/>
                      </a:pPr>
                      <a:r>
                        <a:rPr lang="en-US" sz="1004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L</a:t>
                      </a:r>
                      <a:endParaRPr lang="en-US" sz="1100"/>
                    </a:p>
                  </a:txBody>
                  <a:tcPr marL="48342" marR="48342" marT="48342" marB="48342" anchor="ctr">
                    <a:lnL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8A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05"/>
                        </a:lnSpc>
                        <a:defRPr/>
                      </a:pPr>
                      <a:r>
                        <a:rPr lang="en-US" sz="1004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Input</a:t>
                      </a:r>
                      <a:endParaRPr lang="en-US" sz="1100"/>
                    </a:p>
                  </a:txBody>
                  <a:tcPr marL="48342" marR="48342" marT="48342" marB="48342" anchor="ctr">
                    <a:lnL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8A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05"/>
                        </a:lnSpc>
                        <a:defRPr/>
                      </a:pPr>
                      <a:r>
                        <a:rPr lang="en-US" sz="1004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Water touches low sensor</a:t>
                      </a:r>
                      <a:endParaRPr lang="en-US" sz="1100"/>
                    </a:p>
                  </a:txBody>
                  <a:tcPr marL="48342" marR="48342" marT="48342" marB="48342" anchor="ctr">
                    <a:lnL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8A36"/>
                    </a:solidFill>
                  </a:tcPr>
                </a:tc>
              </a:tr>
              <a:tr h="3222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05"/>
                        </a:lnSpc>
                        <a:defRPr/>
                      </a:pPr>
                      <a:r>
                        <a:rPr lang="en-US" sz="1004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M</a:t>
                      </a:r>
                      <a:endParaRPr lang="en-US" sz="1100"/>
                    </a:p>
                  </a:txBody>
                  <a:tcPr marL="48342" marR="48342" marT="48342" marB="48342" anchor="ctr">
                    <a:lnL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8A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05"/>
                        </a:lnSpc>
                        <a:defRPr/>
                      </a:pPr>
                      <a:r>
                        <a:rPr lang="en-US" sz="1004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Input</a:t>
                      </a:r>
                      <a:endParaRPr lang="en-US" sz="1100"/>
                    </a:p>
                  </a:txBody>
                  <a:tcPr marL="48342" marR="48342" marT="48342" marB="48342" anchor="ctr">
                    <a:lnL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8A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05"/>
                        </a:lnSpc>
                        <a:defRPr/>
                      </a:pPr>
                      <a:r>
                        <a:rPr lang="en-US" sz="1004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Water touches mid sensor</a:t>
                      </a:r>
                      <a:endParaRPr lang="en-US" sz="1100"/>
                    </a:p>
                  </a:txBody>
                  <a:tcPr marL="48342" marR="48342" marT="48342" marB="48342" anchor="ctr">
                    <a:lnL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8A36"/>
                    </a:solidFill>
                  </a:tcPr>
                </a:tc>
              </a:tr>
              <a:tr h="3222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05"/>
                        </a:lnSpc>
                        <a:defRPr/>
                      </a:pPr>
                      <a:r>
                        <a:rPr lang="en-US" sz="1004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H</a:t>
                      </a:r>
                      <a:endParaRPr lang="en-US" sz="1100"/>
                    </a:p>
                  </a:txBody>
                  <a:tcPr marL="48342" marR="48342" marT="48342" marB="48342" anchor="ctr">
                    <a:lnL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8A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05"/>
                        </a:lnSpc>
                        <a:defRPr/>
                      </a:pPr>
                      <a:r>
                        <a:rPr lang="en-US" sz="1004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Input</a:t>
                      </a:r>
                      <a:endParaRPr lang="en-US" sz="1100"/>
                    </a:p>
                  </a:txBody>
                  <a:tcPr marL="48342" marR="48342" marT="48342" marB="48342" anchor="ctr">
                    <a:lnL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8A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05"/>
                        </a:lnSpc>
                        <a:defRPr/>
                      </a:pPr>
                      <a:r>
                        <a:rPr lang="en-US" sz="1004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Water touches high sensor (full)</a:t>
                      </a:r>
                      <a:endParaRPr lang="en-US" sz="1100"/>
                    </a:p>
                  </a:txBody>
                  <a:tcPr marL="48342" marR="48342" marT="48342" marB="48342" anchor="ctr">
                    <a:lnL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8A36"/>
                    </a:solidFill>
                  </a:tcPr>
                </a:tc>
              </a:tr>
              <a:tr h="3222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05"/>
                        </a:lnSpc>
                        <a:defRPr/>
                      </a:pPr>
                      <a:r>
                        <a:rPr lang="en-US" sz="1004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P</a:t>
                      </a:r>
                      <a:endParaRPr lang="en-US" sz="1100"/>
                    </a:p>
                  </a:txBody>
                  <a:tcPr marL="48342" marR="48342" marT="48342" marB="48342" anchor="ctr">
                    <a:lnL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8A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05"/>
                        </a:lnSpc>
                        <a:defRPr/>
                      </a:pPr>
                      <a:r>
                        <a:rPr lang="en-US" sz="1004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Output</a:t>
                      </a:r>
                      <a:endParaRPr lang="en-US" sz="1100"/>
                    </a:p>
                  </a:txBody>
                  <a:tcPr marL="48342" marR="48342" marT="48342" marB="48342" anchor="ctr">
                    <a:lnL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8A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05"/>
                        </a:lnSpc>
                        <a:defRPr/>
                      </a:pPr>
                      <a:r>
                        <a:rPr lang="en-US" sz="1004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Run the pump</a:t>
                      </a:r>
                      <a:endParaRPr lang="en-US" sz="1100"/>
                    </a:p>
                  </a:txBody>
                  <a:tcPr marL="48342" marR="48342" marT="48342" marB="48342" anchor="ctr">
                    <a:lnL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8A36"/>
                    </a:solidFill>
                  </a:tcPr>
                </a:tc>
              </a:tr>
              <a:tr h="3222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05"/>
                        </a:lnSpc>
                        <a:defRPr/>
                      </a:pPr>
                      <a:r>
                        <a:rPr lang="en-US" sz="1004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F</a:t>
                      </a:r>
                      <a:endParaRPr lang="en-US" sz="1100"/>
                    </a:p>
                  </a:txBody>
                  <a:tcPr marL="48342" marR="48342" marT="48342" marB="48342" anchor="ctr">
                    <a:lnL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8A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205"/>
                        </a:lnSpc>
                        <a:defRPr/>
                      </a:pPr>
                      <a:r>
                        <a:rPr lang="en-US" sz="1004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Output</a:t>
                      </a:r>
                      <a:endParaRPr lang="en-US" sz="1100"/>
                    </a:p>
                  </a:txBody>
                  <a:tcPr marL="48342" marR="48342" marT="48342" marB="48342" anchor="ctr">
                    <a:lnL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8A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205"/>
                        </a:lnSpc>
                        <a:defRPr/>
                      </a:pPr>
                      <a:r>
                        <a:rPr lang="en-US" sz="1004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Fault: impossible sensor readings</a:t>
                      </a:r>
                      <a:endParaRPr lang="en-US" sz="1100"/>
                    </a:p>
                  </a:txBody>
                  <a:tcPr marL="48342" marR="48342" marT="48342" marB="48342" anchor="ctr">
                    <a:lnL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028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8A36"/>
                    </a:solidFill>
                  </a:tcPr>
                </a:tc>
              </a:tr>
            </a:tbl>
          </a:graphicData>
        </a:graphic>
      </p:graphicFrame>
      <p:grpSp>
        <p:nvGrpSpPr>
          <p:cNvPr name="Group 22" id="22"/>
          <p:cNvGrpSpPr/>
          <p:nvPr/>
        </p:nvGrpSpPr>
        <p:grpSpPr>
          <a:xfrm rot="0">
            <a:off x="5204623" y="4597136"/>
            <a:ext cx="4167474" cy="2040431"/>
            <a:chOff x="0" y="0"/>
            <a:chExt cx="10510520" cy="5146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510520" cy="5146040"/>
            </a:xfrm>
            <a:custGeom>
              <a:avLst/>
              <a:gdLst/>
              <a:ahLst/>
              <a:cxnLst/>
              <a:rect r="r" b="b" t="t" l="l"/>
              <a:pathLst>
                <a:path h="5146040" w="10510520">
                  <a:moveTo>
                    <a:pt x="0" y="0"/>
                  </a:moveTo>
                  <a:lnTo>
                    <a:pt x="10510520" y="0"/>
                  </a:lnTo>
                  <a:lnTo>
                    <a:pt x="10510520" y="5146040"/>
                  </a:lnTo>
                  <a:lnTo>
                    <a:pt x="0" y="5146040"/>
                  </a:lnTo>
                  <a:close/>
                </a:path>
              </a:pathLst>
            </a:custGeom>
            <a:solidFill>
              <a:srgbClr val="764B36"/>
            </a:solidFill>
            <a:ln w="19050" cap="sq">
              <a:solidFill>
                <a:srgbClr val="CFC6B2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5378855" y="4708380"/>
            <a:ext cx="1476930" cy="15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8"/>
              </a:lnSpc>
            </a:pPr>
            <a:r>
              <a:rPr lang="en-US" sz="1057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THERMOMETER RULE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378855" y="4974261"/>
            <a:ext cx="3819010" cy="796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8"/>
              </a:lnSpc>
            </a:pPr>
            <a:r>
              <a:rPr lang="en-US" sz="1057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Water fills from the bottom, so a higher probe can only be wet when every lower probe is wet too.</a:t>
            </a:r>
          </a:p>
          <a:p>
            <a:pPr algn="l">
              <a:lnSpc>
                <a:spcPts val="1268"/>
              </a:lnSpc>
            </a:pPr>
            <a:r>
              <a:rPr lang="en-US" sz="1057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Valid readings: 000, 100, 110, 111</a:t>
            </a:r>
          </a:p>
          <a:p>
            <a:pPr algn="l">
              <a:lnSpc>
                <a:spcPts val="1268"/>
              </a:lnSpc>
            </a:pPr>
            <a:r>
              <a:rPr lang="en-US" sz="1057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Any other combination indicates a stuck/broken sensor. Run P only when H = 0 and readings are valid; otherwise stop the pump.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499436" y="1104967"/>
            <a:ext cx="5532090" cy="5533891"/>
            <a:chOff x="0" y="0"/>
            <a:chExt cx="7376120" cy="7378522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9525"/>
              <a:ext cx="7376120" cy="52609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95"/>
                </a:lnSpc>
                <a:spcBef>
                  <a:spcPct val="0"/>
                </a:spcBef>
              </a:pPr>
              <a:r>
                <a:rPr lang="en-US" sz="5246" spc="839" strike="noStrike" u="none">
                  <a:solidFill>
                    <a:srgbClr val="9B492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SYSTEM OVERVIEW, SIGNALS &amp; SENSOR RULE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6247165"/>
              <a:ext cx="7376120" cy="11313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00"/>
                </a:lnSpc>
                <a:spcBef>
                  <a:spcPct val="0"/>
                </a:spcBef>
              </a:pPr>
              <a:r>
                <a:rPr lang="en-US" sz="2500" strike="noStrike" u="none">
                  <a:solidFill>
                    <a:srgbClr val="764B36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Smart Water Tank Overflow Protection &amp; Pump Control  ·  DDCA  ·  Batch 09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97280" y="576072"/>
            <a:ext cx="1866751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320">
                <a:solidFill>
                  <a:srgbClr val="9B4922"/>
                </a:solidFill>
                <a:latin typeface="Montserrat"/>
                <a:ea typeface="Montserrat"/>
                <a:cs typeface="Montserrat"/>
                <a:sym typeface="Montserrat"/>
              </a:rPr>
              <a:t>02  DESIGN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668482" y="9646920"/>
            <a:ext cx="52223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7280" y="576072"/>
            <a:ext cx="1866751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320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02  DESIGN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60845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5709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0573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97280" y="1097280"/>
            <a:ext cx="16093440" cy="1188720"/>
            <a:chOff x="0" y="0"/>
            <a:chExt cx="21457920" cy="1584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79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3797" r="0" b="-21379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45792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spc="-88">
                  <a:solidFill>
                    <a:srgbClr val="764B36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Truth table: all eight sensor combinations</a:t>
              </a:r>
            </a:p>
          </p:txBody>
        </p:sp>
      </p:grpSp>
      <p:sp>
        <p:nvSpPr>
          <p:cNvPr name="AutoShape 9" id="9"/>
          <p:cNvSpPr/>
          <p:nvPr/>
        </p:nvSpPr>
        <p:spPr>
          <a:xfrm rot="2040">
            <a:off x="1083374" y="2400110"/>
            <a:ext cx="16121253" cy="0"/>
          </a:xfrm>
          <a:prstGeom prst="line">
            <a:avLst/>
          </a:prstGeom>
          <a:ln cap="rnd" w="9525">
            <a:solidFill>
              <a:srgbClr val="764B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97280" y="9646920"/>
            <a:ext cx="681484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Smart Water Tank Overflow Protection &amp; Pump Control  ·  DDCA  ·  Batch 09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691402" y="9646920"/>
            <a:ext cx="49931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05 / 13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7280" y="2661285"/>
            <a:ext cx="94552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Pump runs below full when readings are valid. Impossible combinations force P = 0 and F = 1.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097280" y="3246120"/>
          <a:ext cx="9944100" cy="5029200"/>
        </p:xfrm>
        <a:graphic>
          <a:graphicData uri="http://schemas.openxmlformats.org/drawingml/2006/table">
            <a:tbl>
              <a:tblPr/>
              <a:tblGrid>
                <a:gridCol w="1009477"/>
                <a:gridCol w="1009477"/>
                <a:gridCol w="1009477"/>
                <a:gridCol w="2907896"/>
                <a:gridCol w="2003887"/>
                <a:gridCol w="2003887"/>
              </a:tblGrid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9B4922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9B4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9B4922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9B4922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9B4922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Tank state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9B4922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P (pump)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79"/>
                        </a:lnSpc>
                        <a:defRPr/>
                      </a:pPr>
                      <a:r>
                        <a:rPr lang="en-US" sz="1899">
                          <a:solidFill>
                            <a:srgbClr val="9B4922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F (fault)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EMPTY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FAULT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FAULT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FAULT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FAULT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MID (FILLING)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FULL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2100" spc="336">
                          <a:solidFill>
                            <a:srgbClr val="9B492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A790"/>
                    </a:solidFill>
                  </a:tcPr>
                </a:tc>
              </a:tr>
            </a:tbl>
          </a:graphicData>
        </a:graphic>
      </p:graphicFrame>
      <p:grpSp>
        <p:nvGrpSpPr>
          <p:cNvPr name="Group 14" id="14"/>
          <p:cNvGrpSpPr/>
          <p:nvPr/>
        </p:nvGrpSpPr>
        <p:grpSpPr>
          <a:xfrm rot="0">
            <a:off x="11795760" y="3931920"/>
            <a:ext cx="5394960" cy="4315968"/>
            <a:chOff x="0" y="0"/>
            <a:chExt cx="7193280" cy="5754624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7193280" cy="5754624"/>
            </a:xfrm>
            <a:custGeom>
              <a:avLst/>
              <a:gdLst/>
              <a:ahLst/>
              <a:cxnLst/>
              <a:rect r="r" b="b" t="t" l="l"/>
              <a:pathLst>
                <a:path h="5754624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5754624"/>
                  </a:lnTo>
                  <a:lnTo>
                    <a:pt x="0" y="5754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87755" y="8677275"/>
            <a:ext cx="16112490" cy="750570"/>
            <a:chOff x="0" y="0"/>
            <a:chExt cx="21483320" cy="10007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483320" cy="1000760"/>
            </a:xfrm>
            <a:custGeom>
              <a:avLst/>
              <a:gdLst/>
              <a:ahLst/>
              <a:cxnLst/>
              <a:rect r="r" b="b" t="t" l="l"/>
              <a:pathLst>
                <a:path h="1000760" w="21483320">
                  <a:moveTo>
                    <a:pt x="0" y="0"/>
                  </a:moveTo>
                  <a:lnTo>
                    <a:pt x="21483320" y="0"/>
                  </a:lnTo>
                  <a:lnTo>
                    <a:pt x="21483320" y="1000760"/>
                  </a:lnTo>
                  <a:lnTo>
                    <a:pt x="0" y="1000760"/>
                  </a:lnTo>
                  <a:close/>
                </a:path>
              </a:pathLst>
            </a:custGeom>
            <a:solidFill>
              <a:srgbClr val="764B36"/>
            </a:solidFill>
            <a:ln w="19050" cap="sq">
              <a:solidFill>
                <a:srgbClr val="CFC6B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371600" y="8686800"/>
            <a:ext cx="15544800" cy="731520"/>
            <a:chOff x="0" y="0"/>
            <a:chExt cx="20726400" cy="9753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726400" cy="975360"/>
            </a:xfrm>
            <a:custGeom>
              <a:avLst/>
              <a:gdLst/>
              <a:ahLst/>
              <a:cxnLst/>
              <a:rect r="r" b="b" t="t" l="l"/>
              <a:pathLst>
                <a:path h="97536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4057" r="0" b="-36405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20726400" cy="9658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79"/>
                </a:lnSpc>
              </a:pPr>
              <a:r>
                <a:rPr lang="en-US" sz="1899">
                  <a:solidFill>
                    <a:srgbClr val="EFE7DD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P = 1 for 000, 100, 110     ·     P = 0 at full (111)     ·     Fault rows fail safe: pump OFF, F = 1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0845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5709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0573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84300" y="5068081"/>
            <a:ext cx="3542833" cy="1241447"/>
            <a:chOff x="0" y="0"/>
            <a:chExt cx="10510520" cy="3683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10520" cy="3683000"/>
            </a:xfrm>
            <a:custGeom>
              <a:avLst/>
              <a:gdLst/>
              <a:ahLst/>
              <a:cxnLst/>
              <a:rect r="r" b="b" t="t" l="l"/>
              <a:pathLst>
                <a:path h="3683000" w="10510520">
                  <a:moveTo>
                    <a:pt x="0" y="0"/>
                  </a:moveTo>
                  <a:lnTo>
                    <a:pt x="10510520" y="0"/>
                  </a:lnTo>
                  <a:lnTo>
                    <a:pt x="10510520" y="3683000"/>
                  </a:lnTo>
                  <a:lnTo>
                    <a:pt x="0" y="3683000"/>
                  </a:lnTo>
                  <a:close/>
                </a:path>
              </a:pathLst>
            </a:custGeom>
            <a:solidFill>
              <a:srgbClr val="764B36"/>
            </a:solidFill>
            <a:ln w="9525" cap="sq">
              <a:solidFill>
                <a:srgbClr val="CFC6B2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532417" y="5134006"/>
            <a:ext cx="1227668" cy="136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8"/>
              </a:lnSpc>
            </a:pPr>
            <a:r>
              <a:rPr lang="en-US" sz="898" spc="143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PUMP OUTPUT 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2417" y="5339487"/>
            <a:ext cx="728347" cy="119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0"/>
              </a:lnSpc>
            </a:pPr>
            <a:r>
              <a:rPr lang="en-US" sz="808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Minterms: 0, 4, 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32417" y="5524420"/>
            <a:ext cx="3246598" cy="449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6"/>
              </a:lnSpc>
            </a:pPr>
            <a:r>
              <a:rPr lang="en-US" sz="988" spc="158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P = L′M′H′ + LM′H′ + LMH′</a:t>
            </a:r>
          </a:p>
          <a:p>
            <a:pPr algn="l">
              <a:lnSpc>
                <a:spcPts val="1186"/>
              </a:lnSpc>
            </a:pPr>
            <a:r>
              <a:rPr lang="en-US" sz="988" spc="158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P = M′H′ + LMH′ = H′(M′ + LM)</a:t>
            </a:r>
          </a:p>
          <a:p>
            <a:pPr algn="l">
              <a:lnSpc>
                <a:spcPts val="1186"/>
              </a:lnSpc>
            </a:pPr>
            <a:r>
              <a:rPr lang="en-US" sz="988" spc="158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P = H′(L + M′)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376489" y="5068081"/>
            <a:ext cx="3542833" cy="1241447"/>
            <a:chOff x="0" y="0"/>
            <a:chExt cx="10510520" cy="3683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10520" cy="3683000"/>
            </a:xfrm>
            <a:custGeom>
              <a:avLst/>
              <a:gdLst/>
              <a:ahLst/>
              <a:cxnLst/>
              <a:rect r="r" b="b" t="t" l="l"/>
              <a:pathLst>
                <a:path h="3683000" w="10510520">
                  <a:moveTo>
                    <a:pt x="0" y="0"/>
                  </a:moveTo>
                  <a:lnTo>
                    <a:pt x="10510520" y="0"/>
                  </a:lnTo>
                  <a:lnTo>
                    <a:pt x="10510520" y="3683000"/>
                  </a:lnTo>
                  <a:lnTo>
                    <a:pt x="0" y="3683000"/>
                  </a:lnTo>
                  <a:close/>
                </a:path>
              </a:pathLst>
            </a:custGeom>
            <a:solidFill>
              <a:srgbClr val="764B36"/>
            </a:solidFill>
            <a:ln w="9525" cap="sq">
              <a:solidFill>
                <a:srgbClr val="CFC6B2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5524606" y="5134006"/>
            <a:ext cx="1237835" cy="136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8"/>
              </a:lnSpc>
            </a:pPr>
            <a:r>
              <a:rPr lang="en-US" sz="898" spc="143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FAULT OUTPUT F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24606" y="5339487"/>
            <a:ext cx="781189" cy="119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0"/>
              </a:lnSpc>
            </a:pPr>
            <a:r>
              <a:rPr lang="en-US" sz="808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Minterms: 1, 2, 3, 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24606" y="5524420"/>
            <a:ext cx="3246598" cy="58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4"/>
              </a:lnSpc>
            </a:pPr>
            <a:r>
              <a:rPr lang="en-US" sz="970" spc="155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F = L′M′H + L′MH′ + L′MH + LM′H</a:t>
            </a:r>
          </a:p>
          <a:p>
            <a:pPr algn="l">
              <a:lnSpc>
                <a:spcPts val="1164"/>
              </a:lnSpc>
            </a:pPr>
            <a:r>
              <a:rPr lang="en-US" sz="970" spc="155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GROUP TERMS USING H′ + H = 1 AND L′ + L = 1</a:t>
            </a:r>
          </a:p>
          <a:p>
            <a:pPr algn="l">
              <a:lnSpc>
                <a:spcPts val="1164"/>
              </a:lnSpc>
            </a:pPr>
            <a:r>
              <a:rPr lang="en-US" sz="970" spc="155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F = L′M + M′H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68678" y="5211653"/>
            <a:ext cx="1710902" cy="954303"/>
            <a:chOff x="0" y="0"/>
            <a:chExt cx="5486400" cy="3060192"/>
          </a:xfrm>
        </p:grpSpPr>
        <p:sp>
          <p:nvSpPr>
            <p:cNvPr name="Freeform 16" id="16" descr="image.png"/>
            <p:cNvSpPr/>
            <p:nvPr/>
          </p:nvSpPr>
          <p:spPr>
            <a:xfrm flipH="false" flipV="false" rot="0">
              <a:off x="0" y="0"/>
              <a:ext cx="5486400" cy="3060192"/>
            </a:xfrm>
            <a:custGeom>
              <a:avLst/>
              <a:gdLst/>
              <a:ahLst/>
              <a:cxnLst/>
              <a:rect r="r" b="b" t="t" l="l"/>
              <a:pathLst>
                <a:path h="306019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060192"/>
                  </a:lnTo>
                  <a:lnTo>
                    <a:pt x="0" y="3060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1155621" y="5306703"/>
            <a:ext cx="755017" cy="106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7"/>
              </a:lnSpc>
            </a:pPr>
            <a:r>
              <a:rPr lang="en-US" sz="706">
                <a:solidFill>
                  <a:srgbClr val="9B492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K-MAP RESULT: 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55621" y="5525338"/>
            <a:ext cx="1755890" cy="117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7"/>
              </a:lnSpc>
            </a:pPr>
            <a:r>
              <a:rPr lang="en-US" sz="831" spc="133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P = M′H′ + LH′ = H′(L + M′)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360867" y="5062218"/>
            <a:ext cx="2246725" cy="1253173"/>
            <a:chOff x="0" y="0"/>
            <a:chExt cx="5486400" cy="3060192"/>
          </a:xfrm>
        </p:grpSpPr>
        <p:sp>
          <p:nvSpPr>
            <p:cNvPr name="Freeform 20" id="20" descr="image.png"/>
            <p:cNvSpPr/>
            <p:nvPr/>
          </p:nvSpPr>
          <p:spPr>
            <a:xfrm flipH="false" flipV="false" rot="0">
              <a:off x="0" y="0"/>
              <a:ext cx="5486400" cy="3060192"/>
            </a:xfrm>
            <a:custGeom>
              <a:avLst/>
              <a:gdLst/>
              <a:ahLst/>
              <a:cxnLst/>
              <a:rect r="r" b="b" t="t" l="l"/>
              <a:pathLst>
                <a:path h="306019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3060192"/>
                  </a:lnTo>
                  <a:lnTo>
                    <a:pt x="0" y="3060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5707446" y="5177511"/>
            <a:ext cx="990337" cy="150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13"/>
              </a:lnSpc>
            </a:pPr>
            <a:r>
              <a:rPr lang="en-US" sz="928">
                <a:solidFill>
                  <a:srgbClr val="9B492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K-MAP RESULT: F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707446" y="5452111"/>
            <a:ext cx="1196254" cy="175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0"/>
              </a:lnSpc>
            </a:pPr>
            <a:r>
              <a:rPr lang="en-US" sz="1092" spc="174">
                <a:solidFill>
                  <a:srgbClr val="9B4922"/>
                </a:solidFill>
                <a:latin typeface="Montserrat"/>
                <a:ea typeface="Montserrat"/>
                <a:cs typeface="Montserrat"/>
                <a:sym typeface="Montserrat"/>
              </a:rPr>
              <a:t>F = L′M + M′H</a:t>
            </a:r>
          </a:p>
        </p:txBody>
      </p:sp>
      <p:sp>
        <p:nvSpPr>
          <p:cNvPr name="AutoShape 23" id="23"/>
          <p:cNvSpPr/>
          <p:nvPr/>
        </p:nvSpPr>
        <p:spPr>
          <a:xfrm flipV="true">
            <a:off x="14083" y="9570079"/>
            <a:ext cx="18298982" cy="0"/>
          </a:xfrm>
          <a:prstGeom prst="line">
            <a:avLst/>
          </a:prstGeom>
          <a:ln cap="flat" w="19050">
            <a:solidFill>
              <a:srgbClr val="764B3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1798373" y="1336578"/>
            <a:ext cx="14691254" cy="3004113"/>
            <a:chOff x="0" y="0"/>
            <a:chExt cx="19588339" cy="4005484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190500"/>
              <a:ext cx="19588339" cy="2273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299"/>
                </a:lnSpc>
                <a:spcBef>
                  <a:spcPct val="0"/>
                </a:spcBef>
              </a:pPr>
              <a:r>
                <a:rPr lang="en-US" sz="6999" spc="-139" strike="noStrike" u="none">
                  <a:solidFill>
                    <a:srgbClr val="764B36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Boolean expressions &amp; K-map simplification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2705626"/>
              <a:ext cx="19588339" cy="1299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25"/>
                </a:lnSpc>
                <a:spcBef>
                  <a:spcPct val="0"/>
                </a:spcBef>
              </a:pPr>
              <a:r>
                <a:rPr lang="en-US" sz="1605" spc="256" strike="noStrike" u="none">
                  <a:solidFill>
                    <a:srgbClr val="764B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THE FOUR CELLS WITH H = 0 FORM ONE GROUP; THE AMBER GROUPING IN THE ORIGINAL MAP WRAPS AROUND THE MAP EDGE.</a:t>
              </a:r>
            </a:p>
            <a:p>
              <a:pPr algn="ctr" marL="0" indent="0" lvl="0">
                <a:lnSpc>
                  <a:spcPts val="1525"/>
                </a:lnSpc>
                <a:spcBef>
                  <a:spcPct val="0"/>
                </a:spcBef>
              </a:pPr>
              <a:r>
                <a:rPr lang="en-US" sz="1605" spc="256" strike="noStrike" u="none">
                  <a:solidFill>
                    <a:srgbClr val="764B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SIMPLIFICATION REDUCES THE IMPLEMENTATION TO SMALL EXPRESSIONS USING ONLY NOT, AND AND OR GATES.</a:t>
              </a:r>
            </a:p>
            <a:p>
              <a:pPr algn="ctr" marL="0" indent="0" lvl="0">
                <a:lnSpc>
                  <a:spcPts val="1525"/>
                </a:lnSpc>
                <a:spcBef>
                  <a:spcPct val="0"/>
                </a:spcBef>
              </a:pPr>
              <a:r>
                <a:rPr lang="en-US" sz="1605" spc="256" strike="noStrike" u="none">
                  <a:solidFill>
                    <a:srgbClr val="764B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BOOLEAN RULES USED: FACTORING, X + X′ = 1, AND ABSORPTION.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798373" y="8541307"/>
            <a:ext cx="1469125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99"/>
              </a:lnSpc>
              <a:spcBef>
                <a:spcPct val="0"/>
              </a:spcBef>
            </a:pPr>
            <a:r>
              <a:rPr lang="en-US" sz="2499" spc="399" strike="noStrike" u="none">
                <a:solidFill>
                  <a:srgbClr val="9B4922"/>
                </a:solidFill>
                <a:latin typeface="Montserrat"/>
                <a:ea typeface="Montserrat"/>
                <a:cs typeface="Montserrat"/>
                <a:sym typeface="Montserrat"/>
              </a:rPr>
              <a:t>02  DESIGN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7280" y="9646920"/>
            <a:ext cx="11382821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spc="255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SMART WATER TANK OVERFLOW PROTECTION &amp; PUMP CONTROL  ·  DDCA  ·  BATCH 09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6342400" y="9646920"/>
            <a:ext cx="84832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 spc="255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7280" y="576072"/>
            <a:ext cx="1358503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9B492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02  DESIGN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60845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5709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0573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97280" y="1097280"/>
            <a:ext cx="16093440" cy="1188720"/>
            <a:chOff x="0" y="0"/>
            <a:chExt cx="21457920" cy="1584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79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3797" r="0" b="-21379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45792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spc="-88">
                  <a:solidFill>
                    <a:srgbClr val="764B36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Fail-safe design choice &amp; pump-control circuit</a:t>
              </a:r>
            </a:p>
          </p:txBody>
        </p:sp>
      </p:grpSp>
      <p:sp>
        <p:nvSpPr>
          <p:cNvPr name="AutoShape 9" id="9"/>
          <p:cNvSpPr/>
          <p:nvPr/>
        </p:nvSpPr>
        <p:spPr>
          <a:xfrm rot="2040">
            <a:off x="1083374" y="2400110"/>
            <a:ext cx="16121253" cy="0"/>
          </a:xfrm>
          <a:prstGeom prst="line">
            <a:avLst/>
          </a:prstGeom>
          <a:ln cap="rnd" w="9525">
            <a:solidFill>
              <a:srgbClr val="764B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97280" y="9646920"/>
            <a:ext cx="681484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Smart Water Tank Overflow Protection &amp; Pump Control  ·  DDCA  ·  Batch 09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659106" y="9646920"/>
            <a:ext cx="53161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9B492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07 / 13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87755" y="2642235"/>
            <a:ext cx="7882890" cy="2305050"/>
            <a:chOff x="0" y="0"/>
            <a:chExt cx="10510520" cy="3073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10520" cy="3073400"/>
            </a:xfrm>
            <a:custGeom>
              <a:avLst/>
              <a:gdLst/>
              <a:ahLst/>
              <a:cxnLst/>
              <a:rect r="r" b="b" t="t" l="l"/>
              <a:pathLst>
                <a:path h="3073400" w="10510520">
                  <a:moveTo>
                    <a:pt x="0" y="0"/>
                  </a:moveTo>
                  <a:lnTo>
                    <a:pt x="10510520" y="0"/>
                  </a:lnTo>
                  <a:lnTo>
                    <a:pt x="10510520" y="3073400"/>
                  </a:lnTo>
                  <a:lnTo>
                    <a:pt x="0" y="3073400"/>
                  </a:lnTo>
                  <a:close/>
                </a:path>
              </a:pathLst>
            </a:custGeom>
            <a:solidFill>
              <a:srgbClr val="9B4922"/>
            </a:solidFill>
            <a:ln w="19050" cap="sq">
              <a:solidFill>
                <a:srgbClr val="CFC6B2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371600" y="2788920"/>
            <a:ext cx="5541020" cy="25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700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OPTION A — IMPOSSIBLE ROWS ARE DON’T-CARES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1600" y="3246120"/>
            <a:ext cx="1444823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480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P = H′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1600" y="3886200"/>
            <a:ext cx="73152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Only 1 NOT gate for P, but a stuck sensor may allow the pump to keep running. No fault indication.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307830" y="2632710"/>
            <a:ext cx="7901940" cy="2324100"/>
            <a:chOff x="0" y="0"/>
            <a:chExt cx="10535920" cy="3098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535920" cy="3098800"/>
            </a:xfrm>
            <a:custGeom>
              <a:avLst/>
              <a:gdLst/>
              <a:ahLst/>
              <a:cxnLst/>
              <a:rect r="r" b="b" t="t" l="l"/>
              <a:pathLst>
                <a:path h="3098800" w="10535920">
                  <a:moveTo>
                    <a:pt x="0" y="0"/>
                  </a:moveTo>
                  <a:lnTo>
                    <a:pt x="10535920" y="0"/>
                  </a:lnTo>
                  <a:lnTo>
                    <a:pt x="10535920" y="3098800"/>
                  </a:lnTo>
                  <a:lnTo>
                    <a:pt x="0" y="3098800"/>
                  </a:lnTo>
                  <a:close/>
                </a:path>
              </a:pathLst>
            </a:custGeom>
            <a:solidFill>
              <a:srgbClr val="9B4922"/>
            </a:solidFill>
            <a:ln w="38100" cap="sq">
              <a:solidFill>
                <a:srgbClr val="1E6F8E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9601200" y="2788920"/>
            <a:ext cx="5987653" cy="25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700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OPTION B — IMPOSSIBLE ROWS FORCED OFF (CHOSEN)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01200" y="3246120"/>
            <a:ext cx="3267075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spc="480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P = H′(L + M′)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601200" y="3886200"/>
            <a:ext cx="73152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Uses extra gates but makes invalid sensor patterns fail safe: pump OFF and fault lamp 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7280" y="5221605"/>
            <a:ext cx="300364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PUMP LOGIC GATE PATH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97280" y="5715000"/>
            <a:ext cx="8778240" cy="3432915"/>
            <a:chOff x="0" y="0"/>
            <a:chExt cx="11704320" cy="4577220"/>
          </a:xfrm>
        </p:grpSpPr>
        <p:sp>
          <p:nvSpPr>
            <p:cNvPr name="Freeform 24" id="24" descr="image.png"/>
            <p:cNvSpPr/>
            <p:nvPr/>
          </p:nvSpPr>
          <p:spPr>
            <a:xfrm flipH="false" flipV="false" rot="0">
              <a:off x="0" y="0"/>
              <a:ext cx="11704320" cy="4577207"/>
            </a:xfrm>
            <a:custGeom>
              <a:avLst/>
              <a:gdLst/>
              <a:ahLst/>
              <a:cxnLst/>
              <a:rect r="r" b="b" t="t" l="l"/>
              <a:pathLst>
                <a:path h="4577207" w="11704320">
                  <a:moveTo>
                    <a:pt x="0" y="0"/>
                  </a:moveTo>
                  <a:lnTo>
                    <a:pt x="11704320" y="0"/>
                  </a:lnTo>
                  <a:lnTo>
                    <a:pt x="11704320" y="4577207"/>
                  </a:lnTo>
                  <a:lnTo>
                    <a:pt x="0" y="45772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231755" y="5202555"/>
            <a:ext cx="6968490" cy="3996690"/>
            <a:chOff x="0" y="0"/>
            <a:chExt cx="9291320" cy="53289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291320" cy="5328920"/>
            </a:xfrm>
            <a:custGeom>
              <a:avLst/>
              <a:gdLst/>
              <a:ahLst/>
              <a:cxnLst/>
              <a:rect r="r" b="b" t="t" l="l"/>
              <a:pathLst>
                <a:path h="5328920" w="9291320">
                  <a:moveTo>
                    <a:pt x="0" y="0"/>
                  </a:moveTo>
                  <a:lnTo>
                    <a:pt x="9291320" y="0"/>
                  </a:lnTo>
                  <a:lnTo>
                    <a:pt x="9291320" y="5328920"/>
                  </a:lnTo>
                  <a:lnTo>
                    <a:pt x="0" y="5328920"/>
                  </a:lnTo>
                  <a:close/>
                </a:path>
              </a:pathLst>
            </a:custGeom>
            <a:solidFill>
              <a:srgbClr val="9B4922"/>
            </a:solidFill>
            <a:ln w="19050" cap="sq">
              <a:solidFill>
                <a:srgbClr val="CFC6B2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0561320" y="5404485"/>
            <a:ext cx="387578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GATE COUNT &amp; OPTIMISATION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561320" y="5943600"/>
            <a:ext cx="630936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NOT: 3 (L′, M′, H′)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AND: 3 (P: 1, F: 2)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OR: 2 (P: 1, F: 1)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Total: 8 gates • 3 inputs • 2 outputs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NAND is universal: the controller could also be built from NAND gates alone.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0845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5709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0573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04925" y="8086252"/>
            <a:ext cx="1892842" cy="862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87"/>
              </a:lnSpc>
              <a:spcBef>
                <a:spcPct val="0"/>
              </a:spcBef>
            </a:pPr>
            <a:r>
              <a:rPr lang="en-US" sz="1276" spc="204">
                <a:solidFill>
                  <a:srgbClr val="9B4922"/>
                </a:solidFill>
                <a:latin typeface="Montserrat"/>
                <a:ea typeface="Montserrat"/>
                <a:cs typeface="Montserrat"/>
                <a:sym typeface="Montserrat"/>
              </a:rPr>
              <a:t>FAULT DETECTOR &amp; COMPLETE LOGIC IMPLEMENTATION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96673" y="2528283"/>
            <a:ext cx="1884353" cy="243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FAULT DETECTOR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096673" y="2893941"/>
            <a:ext cx="5558004" cy="2342299"/>
            <a:chOff x="0" y="0"/>
            <a:chExt cx="9265920" cy="3904920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9265920" cy="3904869"/>
            </a:xfrm>
            <a:custGeom>
              <a:avLst/>
              <a:gdLst/>
              <a:ahLst/>
              <a:cxnLst/>
              <a:rect r="r" b="b" t="t" l="l"/>
              <a:pathLst>
                <a:path h="3904869" w="9265920">
                  <a:moveTo>
                    <a:pt x="0" y="0"/>
                  </a:moveTo>
                  <a:lnTo>
                    <a:pt x="9265920" y="0"/>
                  </a:lnTo>
                  <a:lnTo>
                    <a:pt x="9265920" y="3904869"/>
                  </a:lnTo>
                  <a:lnTo>
                    <a:pt x="0" y="39048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096673" y="5353375"/>
            <a:ext cx="2628882" cy="356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spc="383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F = L′M + M′H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96673" y="5746074"/>
            <a:ext cx="4584772" cy="22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3"/>
              </a:lnSpc>
            </a:pPr>
            <a:r>
              <a:rPr lang="en-US" sz="1519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 becomes 1 for impossible patterns: 001, 010, 011 and 101.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670902" y="2520665"/>
            <a:ext cx="6304556" cy="3269593"/>
            <a:chOff x="0" y="0"/>
            <a:chExt cx="10510520" cy="54508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10520" cy="5450840"/>
            </a:xfrm>
            <a:custGeom>
              <a:avLst/>
              <a:gdLst/>
              <a:ahLst/>
              <a:cxnLst/>
              <a:rect r="r" b="b" t="t" l="l"/>
              <a:pathLst>
                <a:path h="5450840" w="10510520">
                  <a:moveTo>
                    <a:pt x="0" y="0"/>
                  </a:moveTo>
                  <a:lnTo>
                    <a:pt x="10510520" y="0"/>
                  </a:lnTo>
                  <a:lnTo>
                    <a:pt x="10510520" y="5450840"/>
                  </a:lnTo>
                  <a:lnTo>
                    <a:pt x="0" y="5450840"/>
                  </a:lnTo>
                  <a:close/>
                </a:path>
              </a:pathLst>
            </a:custGeom>
            <a:solidFill>
              <a:srgbClr val="764B36"/>
            </a:solidFill>
            <a:ln w="19050" cap="sq">
              <a:solidFill>
                <a:srgbClr val="CFC6B2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0934480" y="2674546"/>
            <a:ext cx="2522232" cy="22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3"/>
              </a:lnSpc>
            </a:pPr>
            <a:r>
              <a:rPr lang="en-US" sz="1519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COMPLETE CONTROLLER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34480" y="3159426"/>
            <a:ext cx="2944905" cy="241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Inputs: L, M, H   •   Outputs: P, F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34480" y="3771520"/>
            <a:ext cx="5777398" cy="777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sz="2559" spc="409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P = H′(L + M′)</a:t>
            </a:r>
          </a:p>
          <a:p>
            <a:pPr algn="l">
              <a:lnSpc>
                <a:spcPts val="3071"/>
              </a:lnSpc>
            </a:pPr>
            <a:r>
              <a:rPr lang="en-US" sz="2559" spc="409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F = L′M + M′H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96673" y="6257996"/>
            <a:ext cx="1873284" cy="22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3"/>
              </a:lnSpc>
            </a:pPr>
            <a:r>
              <a:rPr lang="en-US" sz="1519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BEHAVIOUR RULES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089055" y="6616036"/>
            <a:ext cx="4183738" cy="746552"/>
            <a:chOff x="0" y="0"/>
            <a:chExt cx="6974840" cy="1244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74840" cy="1244600"/>
            </a:xfrm>
            <a:custGeom>
              <a:avLst/>
              <a:gdLst/>
              <a:ahLst/>
              <a:cxnLst/>
              <a:rect r="r" b="b" t="t" l="l"/>
              <a:pathLst>
                <a:path h="1244600" w="6974840">
                  <a:moveTo>
                    <a:pt x="0" y="0"/>
                  </a:moveTo>
                  <a:lnTo>
                    <a:pt x="6974840" y="0"/>
                  </a:lnTo>
                  <a:lnTo>
                    <a:pt x="6974840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rgbClr val="D1774C"/>
            </a:solidFill>
            <a:ln w="19050" cap="sq">
              <a:solidFill>
                <a:srgbClr val="CFC6B2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5364264" y="6696785"/>
            <a:ext cx="1633321" cy="182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VALID + BELOW FULL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94273" y="6979787"/>
            <a:ext cx="973303" cy="276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1"/>
              </a:lnSpc>
            </a:pPr>
            <a:r>
              <a:rPr lang="en-US" sz="1759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 = 1, F = 0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440387" y="6616036"/>
            <a:ext cx="4183738" cy="746552"/>
            <a:chOff x="0" y="0"/>
            <a:chExt cx="6974840" cy="1244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74840" cy="1244600"/>
            </a:xfrm>
            <a:custGeom>
              <a:avLst/>
              <a:gdLst/>
              <a:ahLst/>
              <a:cxnLst/>
              <a:rect r="r" b="b" t="t" l="l"/>
              <a:pathLst>
                <a:path h="1244600" w="6974840">
                  <a:moveTo>
                    <a:pt x="0" y="0"/>
                  </a:moveTo>
                  <a:lnTo>
                    <a:pt x="6974840" y="0"/>
                  </a:lnTo>
                  <a:lnTo>
                    <a:pt x="6974840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rgbClr val="D1774C"/>
            </a:solidFill>
            <a:ln w="19050" cap="sq">
              <a:solidFill>
                <a:srgbClr val="CFC6B2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0199926" y="6696785"/>
            <a:ext cx="664660" cy="182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FULL (111)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27512" y="6979787"/>
            <a:ext cx="1009488" cy="276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1"/>
              </a:lnSpc>
            </a:pPr>
            <a:r>
              <a:rPr lang="en-US" sz="1759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 = 0, F = 0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784101" y="6608418"/>
            <a:ext cx="4198974" cy="761788"/>
            <a:chOff x="0" y="0"/>
            <a:chExt cx="7000240" cy="127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00240" cy="1270000"/>
            </a:xfrm>
            <a:custGeom>
              <a:avLst/>
              <a:gdLst/>
              <a:ahLst/>
              <a:cxnLst/>
              <a:rect r="r" b="b" t="t" l="l"/>
              <a:pathLst>
                <a:path h="1270000" w="7000240">
                  <a:moveTo>
                    <a:pt x="0" y="0"/>
                  </a:moveTo>
                  <a:lnTo>
                    <a:pt x="7000240" y="0"/>
                  </a:lnTo>
                  <a:lnTo>
                    <a:pt x="700024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D1774C"/>
            </a:solidFill>
            <a:ln w="28575" cap="sq">
              <a:solidFill>
                <a:srgbClr val="1E6F8E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4037646" y="6696785"/>
            <a:ext cx="1691883" cy="182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199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IMPOSSIBLE READING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399912" y="6979787"/>
            <a:ext cx="967351" cy="276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1"/>
              </a:lnSpc>
            </a:pPr>
            <a:r>
              <a:rPr lang="en-US" sz="1759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 = 0, F = 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267316" y="7537799"/>
            <a:ext cx="8529881" cy="22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3"/>
              </a:lnSpc>
            </a:pPr>
            <a:r>
              <a:rPr lang="en-US" sz="1519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Block-diagram loop: water level rises → sensor states change → logic switches pump → level stops rising.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97280" y="576072"/>
            <a:ext cx="1866751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320">
                <a:solidFill>
                  <a:srgbClr val="9B4922"/>
                </a:solidFill>
                <a:latin typeface="Montserrat"/>
                <a:ea typeface="Montserrat"/>
                <a:cs typeface="Montserrat"/>
                <a:sym typeface="Montserrat"/>
              </a:rPr>
              <a:t>02  DESIGN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97280" y="9646920"/>
            <a:ext cx="681484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9B492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Smart Water Tank Overflow Protection &amp; Pump Control  ·  DDCA  ·  Batch 09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659404" y="9646920"/>
            <a:ext cx="531316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9B492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7280" y="576072"/>
            <a:ext cx="22479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03  VERIFICATION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60845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5709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0573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97280" y="1097280"/>
            <a:ext cx="16093440" cy="1188720"/>
            <a:chOff x="0" y="0"/>
            <a:chExt cx="21457920" cy="1584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79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3797" r="0" b="-21379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45792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spc="-88">
                  <a:solidFill>
                    <a:srgbClr val="764B36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Logisim Evolution simulation &amp; verification</a:t>
              </a:r>
            </a:p>
          </p:txBody>
        </p:sp>
      </p:grpSp>
      <p:sp>
        <p:nvSpPr>
          <p:cNvPr name="AutoShape 9" id="9"/>
          <p:cNvSpPr/>
          <p:nvPr/>
        </p:nvSpPr>
        <p:spPr>
          <a:xfrm rot="2040">
            <a:off x="1083374" y="2400110"/>
            <a:ext cx="16121253" cy="0"/>
          </a:xfrm>
          <a:prstGeom prst="line">
            <a:avLst/>
          </a:prstGeom>
          <a:ln cap="rnd" w="9525">
            <a:solidFill>
              <a:srgbClr val="764B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97280" y="9646920"/>
            <a:ext cx="681484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Smart Water Tank Overflow Protection &amp; Pump Control  ·  DDCA  ·  Batch 09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662231" y="9646920"/>
            <a:ext cx="52848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09 / 13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7280" y="2615565"/>
            <a:ext cx="11012239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All eight input combinations were checked. The circuit outputs match the truth-table outputs in every case.</a:t>
            </a:r>
          </a:p>
        </p:txBody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1097280" y="3108960"/>
          <a:ext cx="9652000" cy="4686300"/>
        </p:xfrm>
        <a:graphic>
          <a:graphicData uri="http://schemas.openxmlformats.org/drawingml/2006/table">
            <a:tbl>
              <a:tblPr/>
              <a:tblGrid>
                <a:gridCol w="1728941"/>
                <a:gridCol w="1548530"/>
                <a:gridCol w="1728941"/>
                <a:gridCol w="1548530"/>
                <a:gridCol w="1728941"/>
                <a:gridCol w="1368118"/>
              </a:tblGrid>
              <a:tr h="520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8"/>
                        </a:lnSpc>
                        <a:defRPr/>
                      </a:pPr>
                      <a:r>
                        <a:rPr lang="en-US" sz="17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L M 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9B49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8"/>
                        </a:lnSpc>
                        <a:defRPr/>
                      </a:pPr>
                      <a:r>
                        <a:rPr lang="en-US" sz="17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P table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8"/>
                        </a:lnSpc>
                        <a:defRPr/>
                      </a:pPr>
                      <a:r>
                        <a:rPr lang="en-US" sz="17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P circuit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8"/>
                        </a:lnSpc>
                        <a:defRPr/>
                      </a:pPr>
                      <a:r>
                        <a:rPr lang="en-US" sz="17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F table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8"/>
                        </a:lnSpc>
                        <a:defRPr/>
                      </a:pPr>
                      <a:r>
                        <a:rPr lang="en-US" sz="17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F circuit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038"/>
                        </a:lnSpc>
                        <a:defRPr/>
                      </a:pPr>
                      <a:r>
                        <a:rPr lang="en-US" sz="17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Match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000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001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010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011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100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101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110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</a:tr>
              <a:tr h="5207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111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EFE7DD"/>
                          </a:solidFill>
                          <a:latin typeface="Sorts Mill Goudy"/>
                          <a:ea typeface="Sorts Mill Goudy"/>
                          <a:cs typeface="Sorts Mill Goudy"/>
                          <a:sym typeface="Sorts Mill Goudy"/>
                        </a:rPr>
                        <a:t>✓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7620">
                      <a:solidFill>
                        <a:srgbClr val="CFC6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4B36"/>
                    </a:solidFill>
                  </a:tcPr>
                </a:tc>
              </a:tr>
            </a:tbl>
          </a:graphicData>
        </a:graphic>
      </p:graphicFrame>
      <p:sp>
        <p:nvSpPr>
          <p:cNvPr name="TextBox 14" id="14"/>
          <p:cNvSpPr txBox="true"/>
          <p:nvPr/>
        </p:nvSpPr>
        <p:spPr>
          <a:xfrm rot="0">
            <a:off x="11430000" y="3108960"/>
            <a:ext cx="196066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LOGISIM STEPS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30000" y="3657600"/>
            <a:ext cx="5760720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1. Place input pins L, M and H.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2. Add 3 NOT, 3 AND and 2 OR gates.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3. Wire the gates as shown in the circuit design.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4. Add output LEDs for P and F.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5. Test all 8 input combinations and compare to the truth table.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78230" y="8210550"/>
            <a:ext cx="16131540" cy="952500"/>
            <a:chOff x="0" y="0"/>
            <a:chExt cx="21508720" cy="127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508720" cy="1270000"/>
            </a:xfrm>
            <a:custGeom>
              <a:avLst/>
              <a:gdLst/>
              <a:ahLst/>
              <a:cxnLst/>
              <a:rect r="r" b="b" t="t" l="l"/>
              <a:pathLst>
                <a:path h="1270000" w="21508720">
                  <a:moveTo>
                    <a:pt x="0" y="0"/>
                  </a:moveTo>
                  <a:lnTo>
                    <a:pt x="21508720" y="0"/>
                  </a:lnTo>
                  <a:lnTo>
                    <a:pt x="21508720" y="1270000"/>
                  </a:lnTo>
                  <a:lnTo>
                    <a:pt x="0" y="1270000"/>
                  </a:lnTo>
                  <a:close/>
                </a:path>
              </a:pathLst>
            </a:custGeom>
            <a:solidFill>
              <a:srgbClr val="764B36"/>
            </a:solidFill>
            <a:ln w="38100" cap="sq">
              <a:solidFill>
                <a:srgbClr val="1E6F8E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371600" y="8229600"/>
            <a:ext cx="15544800" cy="914400"/>
            <a:chOff x="0" y="0"/>
            <a:chExt cx="2072640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726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20726400" cy="12192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spc="416">
                  <a:solidFill>
                    <a:srgbClr val="EFE7D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RESULT: 8 OF 8 INPUT COMBINATIONS MATCH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7280" y="576072"/>
            <a:ext cx="2247900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03  VERIFICATION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60845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5709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0573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97280" y="1097280"/>
            <a:ext cx="16093440" cy="1188720"/>
            <a:chOff x="0" y="0"/>
            <a:chExt cx="21457920" cy="1584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79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3797" r="0" b="-21379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45792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spc="-88">
                  <a:solidFill>
                    <a:srgbClr val="764B36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Logisim working model: complete circuit</a:t>
              </a:r>
            </a:p>
          </p:txBody>
        </p:sp>
      </p:grpSp>
      <p:sp>
        <p:nvSpPr>
          <p:cNvPr name="AutoShape 9" id="9"/>
          <p:cNvSpPr/>
          <p:nvPr/>
        </p:nvSpPr>
        <p:spPr>
          <a:xfrm rot="2040">
            <a:off x="1083374" y="2400110"/>
            <a:ext cx="16121253" cy="0"/>
          </a:xfrm>
          <a:prstGeom prst="line">
            <a:avLst/>
          </a:prstGeom>
          <a:ln cap="rnd" w="9525">
            <a:solidFill>
              <a:srgbClr val="764B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97280" y="9646920"/>
            <a:ext cx="681484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Smart Water Tank Overflow Protection &amp; Pump Control  ·  DDCA  ·  Batch 09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693932" y="9646920"/>
            <a:ext cx="49678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9B492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10 / 13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7280" y="2615565"/>
            <a:ext cx="7305675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Shown with sensors L M H = 110 (mid level): pump ON, fault lamp OFF.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97280" y="3200400"/>
            <a:ext cx="11200000" cy="5299996"/>
            <a:chOff x="0" y="0"/>
            <a:chExt cx="14933333" cy="706666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33422" cy="7066661"/>
            </a:xfrm>
            <a:custGeom>
              <a:avLst/>
              <a:gdLst/>
              <a:ahLst/>
              <a:cxnLst/>
              <a:rect r="r" b="b" t="t" l="l"/>
              <a:pathLst>
                <a:path h="7066661" w="14933422">
                  <a:moveTo>
                    <a:pt x="0" y="282702"/>
                  </a:moveTo>
                  <a:cubicBezTo>
                    <a:pt x="0" y="126492"/>
                    <a:pt x="126492" y="0"/>
                    <a:pt x="282702" y="0"/>
                  </a:cubicBezTo>
                  <a:lnTo>
                    <a:pt x="14650720" y="0"/>
                  </a:lnTo>
                  <a:cubicBezTo>
                    <a:pt x="14806803" y="0"/>
                    <a:pt x="14933422" y="126492"/>
                    <a:pt x="14933422" y="282702"/>
                  </a:cubicBezTo>
                  <a:lnTo>
                    <a:pt x="14933422" y="6783959"/>
                  </a:lnTo>
                  <a:cubicBezTo>
                    <a:pt x="14933422" y="6940042"/>
                    <a:pt x="14806930" y="7066661"/>
                    <a:pt x="14650720" y="7066661"/>
                  </a:cubicBezTo>
                  <a:lnTo>
                    <a:pt x="282702" y="7066661"/>
                  </a:lnTo>
                  <a:cubicBezTo>
                    <a:pt x="126492" y="7066661"/>
                    <a:pt x="0" y="6940169"/>
                    <a:pt x="0" y="6783959"/>
                  </a:cubicBezTo>
                  <a:close/>
                </a:path>
              </a:pathLst>
            </a:custGeom>
            <a:solidFill>
              <a:srgbClr val="764B36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707452" y="3350400"/>
            <a:ext cx="9979647" cy="4999996"/>
            <a:chOff x="0" y="0"/>
            <a:chExt cx="13306196" cy="6666662"/>
          </a:xfrm>
        </p:grpSpPr>
        <p:sp>
          <p:nvSpPr>
            <p:cNvPr name="Freeform 16" id="16" descr="Logisim-style circuit of the smart water tank controller: inputs L, M, H feed 3 NOT, 3 AND and 2 OR gates to give pump output P and fault output F"/>
            <p:cNvSpPr/>
            <p:nvPr/>
          </p:nvSpPr>
          <p:spPr>
            <a:xfrm flipH="false" flipV="false" rot="0">
              <a:off x="0" y="0"/>
              <a:ext cx="13306171" cy="6666611"/>
            </a:xfrm>
            <a:custGeom>
              <a:avLst/>
              <a:gdLst/>
              <a:ahLst/>
              <a:cxnLst/>
              <a:rect r="r" b="b" t="t" l="l"/>
              <a:pathLst>
                <a:path h="6666611" w="13306171">
                  <a:moveTo>
                    <a:pt x="0" y="0"/>
                  </a:moveTo>
                  <a:lnTo>
                    <a:pt x="13306171" y="0"/>
                  </a:lnTo>
                  <a:lnTo>
                    <a:pt x="13306171" y="6666611"/>
                  </a:lnTo>
                  <a:lnTo>
                    <a:pt x="0" y="6666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797276" y="3200400"/>
            <a:ext cx="4393444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CIRCUIT SUMMARY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Inputs: L, M, H sensors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Outputs: P (pump), F (fault lamp)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 = H′(L + M′)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 = L′M + M′H</a:t>
            </a:r>
          </a:p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Green wire = 1, dark wire = 0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097280" y="8750398"/>
            <a:ext cx="16093440" cy="519998"/>
            <a:chOff x="0" y="0"/>
            <a:chExt cx="21457920" cy="6933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457920" cy="693293"/>
            </a:xfrm>
            <a:custGeom>
              <a:avLst/>
              <a:gdLst/>
              <a:ahLst/>
              <a:cxnLst/>
              <a:rect r="r" b="b" t="t" l="l"/>
              <a:pathLst>
                <a:path h="693293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693293"/>
                  </a:lnTo>
                  <a:lnTo>
                    <a:pt x="0" y="693293"/>
                  </a:lnTo>
                  <a:close/>
                </a:path>
              </a:pathLst>
            </a:custGeom>
            <a:solidFill>
              <a:srgbClr val="D1774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97280" y="8750398"/>
            <a:ext cx="16093440" cy="520000"/>
            <a:chOff x="0" y="0"/>
            <a:chExt cx="21457920" cy="6933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457920" cy="693336"/>
            </a:xfrm>
            <a:custGeom>
              <a:avLst/>
              <a:gdLst/>
              <a:ahLst/>
              <a:cxnLst/>
              <a:rect r="r" b="b" t="t" l="l"/>
              <a:pathLst>
                <a:path h="693336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693336"/>
                  </a:lnTo>
                  <a:lnTo>
                    <a:pt x="0" y="693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53039" r="0" b="-55303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1457920" cy="6933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764B36"/>
                  </a:solidFill>
                  <a:latin typeface="Sorts Mill Goudy"/>
                  <a:ea typeface="Sorts Mill Goudy"/>
                  <a:cs typeface="Sorts Mill Goudy"/>
                  <a:sym typeface="Sorts Mill Goudy"/>
                </a:rPr>
                <a:t>All 8 input combinations match the truth table  ·  Fault rows force the pump OFF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7280" y="576072"/>
            <a:ext cx="2926407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320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03  VERIFICATION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60845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5709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0573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97280" y="1097280"/>
            <a:ext cx="16093440" cy="1188720"/>
            <a:chOff x="0" y="0"/>
            <a:chExt cx="21457920" cy="1584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79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3797" r="0" b="-21379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45792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spc="-88">
                  <a:solidFill>
                    <a:srgbClr val="764B36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Working scenarios &amp; expected behaviour over time</a:t>
              </a:r>
            </a:p>
          </p:txBody>
        </p:sp>
      </p:grpSp>
      <p:sp>
        <p:nvSpPr>
          <p:cNvPr name="AutoShape 9" id="9"/>
          <p:cNvSpPr/>
          <p:nvPr/>
        </p:nvSpPr>
        <p:spPr>
          <a:xfrm rot="2040">
            <a:off x="1083374" y="2400110"/>
            <a:ext cx="16121253" cy="0"/>
          </a:xfrm>
          <a:prstGeom prst="line">
            <a:avLst/>
          </a:prstGeom>
          <a:ln cap="rnd" w="9525">
            <a:solidFill>
              <a:srgbClr val="764B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97280" y="9646920"/>
            <a:ext cx="681484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Smart Water Tank Overflow Protection &amp; Pump Control  ·  DDCA  ·  Batch 09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730246" y="9646920"/>
            <a:ext cx="46047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9B492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11 / 13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17320" y="2560320"/>
            <a:ext cx="3108960" cy="2487168"/>
            <a:chOff x="0" y="0"/>
            <a:chExt cx="4145280" cy="3316224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4145280" cy="3316224"/>
            </a:xfrm>
            <a:custGeom>
              <a:avLst/>
              <a:gdLst/>
              <a:ahLst/>
              <a:cxnLst/>
              <a:rect r="r" b="b" t="t" l="l"/>
              <a:pathLst>
                <a:path h="3316224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316224"/>
                  </a:lnTo>
                  <a:lnTo>
                    <a:pt x="0" y="3316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2369269" y="5120640"/>
            <a:ext cx="120506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spc="351">
                <a:solidFill>
                  <a:srgbClr val="9B4922"/>
                </a:solidFill>
                <a:latin typeface="Montserrat"/>
                <a:ea typeface="Montserrat"/>
                <a:cs typeface="Montserrat"/>
                <a:sym typeface="Montserrat"/>
              </a:rPr>
              <a:t>EMPTY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68376" y="5532120"/>
            <a:ext cx="120684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B492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 M H = 000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183011" y="5897880"/>
            <a:ext cx="15775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spc="320">
                <a:solidFill>
                  <a:srgbClr val="9B4922"/>
                </a:solidFill>
                <a:latin typeface="Montserrat"/>
                <a:ea typeface="Montserrat"/>
                <a:cs typeface="Montserrat"/>
                <a:sym typeface="Montserrat"/>
              </a:rPr>
              <a:t>PUMP 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532120" y="2560320"/>
            <a:ext cx="3108960" cy="2487168"/>
            <a:chOff x="0" y="0"/>
            <a:chExt cx="4145280" cy="3316224"/>
          </a:xfrm>
        </p:grpSpPr>
        <p:sp>
          <p:nvSpPr>
            <p:cNvPr name="Freeform 18" id="18" descr="image.png"/>
            <p:cNvSpPr/>
            <p:nvPr/>
          </p:nvSpPr>
          <p:spPr>
            <a:xfrm flipH="false" flipV="false" rot="0">
              <a:off x="0" y="0"/>
              <a:ext cx="4145280" cy="3316224"/>
            </a:xfrm>
            <a:custGeom>
              <a:avLst/>
              <a:gdLst/>
              <a:ahLst/>
              <a:cxnLst/>
              <a:rect r="r" b="b" t="t" l="l"/>
              <a:pathLst>
                <a:path h="3316224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316224"/>
                  </a:lnTo>
                  <a:lnTo>
                    <a:pt x="0" y="3316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669732" y="5120640"/>
            <a:ext cx="833735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spc="351">
                <a:solidFill>
                  <a:srgbClr val="9B4922"/>
                </a:solidFill>
                <a:latin typeface="Montserrat"/>
                <a:ea typeface="Montserrat"/>
                <a:cs typeface="Montserrat"/>
                <a:sym typeface="Montserrat"/>
              </a:rPr>
              <a:t>LOW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05947" y="5532120"/>
            <a:ext cx="116130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B492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 M H = 100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297811" y="5897880"/>
            <a:ext cx="15775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spc="320">
                <a:solidFill>
                  <a:srgbClr val="9B4922"/>
                </a:solidFill>
                <a:latin typeface="Montserrat"/>
                <a:ea typeface="Montserrat"/>
                <a:cs typeface="Montserrat"/>
                <a:sym typeface="Montserrat"/>
              </a:rPr>
              <a:t>PUMP ON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646920" y="2560320"/>
            <a:ext cx="3108960" cy="2487168"/>
            <a:chOff x="0" y="0"/>
            <a:chExt cx="4145280" cy="3316224"/>
          </a:xfrm>
        </p:grpSpPr>
        <p:sp>
          <p:nvSpPr>
            <p:cNvPr name="Freeform 23" id="23" descr="image.png"/>
            <p:cNvSpPr/>
            <p:nvPr/>
          </p:nvSpPr>
          <p:spPr>
            <a:xfrm flipH="false" flipV="false" rot="0">
              <a:off x="0" y="0"/>
              <a:ext cx="4145280" cy="3316224"/>
            </a:xfrm>
            <a:custGeom>
              <a:avLst/>
              <a:gdLst/>
              <a:ahLst/>
              <a:cxnLst/>
              <a:rect r="r" b="b" t="t" l="l"/>
              <a:pathLst>
                <a:path h="3316224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316224"/>
                  </a:lnTo>
                  <a:lnTo>
                    <a:pt x="0" y="3316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843320" y="5120640"/>
            <a:ext cx="71616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spc="351">
                <a:solidFill>
                  <a:srgbClr val="9B4922"/>
                </a:solidFill>
                <a:latin typeface="Montserrat"/>
                <a:ea typeface="Montserrat"/>
                <a:cs typeface="Montserrat"/>
                <a:sym typeface="Montserrat"/>
              </a:rPr>
              <a:t>MID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642327" y="5532120"/>
            <a:ext cx="111814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B492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 M H = 110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12611" y="5897880"/>
            <a:ext cx="15775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spc="320">
                <a:solidFill>
                  <a:srgbClr val="9B4922"/>
                </a:solidFill>
                <a:latin typeface="Montserrat"/>
                <a:ea typeface="Montserrat"/>
                <a:cs typeface="Montserrat"/>
                <a:sym typeface="Montserrat"/>
              </a:rPr>
              <a:t>PUMP ON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3761720" y="2560320"/>
            <a:ext cx="3108960" cy="2487168"/>
            <a:chOff x="0" y="0"/>
            <a:chExt cx="4145280" cy="3316224"/>
          </a:xfrm>
        </p:grpSpPr>
        <p:sp>
          <p:nvSpPr>
            <p:cNvPr name="Freeform 28" id="28" descr="image.png"/>
            <p:cNvSpPr/>
            <p:nvPr/>
          </p:nvSpPr>
          <p:spPr>
            <a:xfrm flipH="false" flipV="false" rot="0">
              <a:off x="0" y="0"/>
              <a:ext cx="4145280" cy="3316224"/>
            </a:xfrm>
            <a:custGeom>
              <a:avLst/>
              <a:gdLst/>
              <a:ahLst/>
              <a:cxnLst/>
              <a:rect r="r" b="b" t="t" l="l"/>
              <a:pathLst>
                <a:path h="3316224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3316224"/>
                  </a:lnTo>
                  <a:lnTo>
                    <a:pt x="0" y="3316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4863167" y="5120640"/>
            <a:ext cx="906066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 spc="351">
                <a:solidFill>
                  <a:srgbClr val="9B4922"/>
                </a:solidFill>
                <a:latin typeface="Montserrat"/>
                <a:ea typeface="Montserrat"/>
                <a:cs typeface="Montserrat"/>
                <a:sym typeface="Montserrat"/>
              </a:rPr>
              <a:t>FULL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777591" y="5532120"/>
            <a:ext cx="1077218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9B492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 M H = 111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449574" y="5897880"/>
            <a:ext cx="173325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spc="320">
                <a:solidFill>
                  <a:srgbClr val="9B4922"/>
                </a:solidFill>
                <a:latin typeface="Montserrat"/>
                <a:ea typeface="Montserrat"/>
                <a:cs typeface="Montserrat"/>
                <a:sym typeface="Montserrat"/>
              </a:rPr>
              <a:t>PUMP OFF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087755" y="6528435"/>
            <a:ext cx="8157210" cy="1710690"/>
            <a:chOff x="0" y="0"/>
            <a:chExt cx="10876280" cy="22809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876280" cy="2280920"/>
            </a:xfrm>
            <a:custGeom>
              <a:avLst/>
              <a:gdLst/>
              <a:ahLst/>
              <a:cxnLst/>
              <a:rect r="r" b="b" t="t" l="l"/>
              <a:pathLst>
                <a:path h="2280920" w="10876280">
                  <a:moveTo>
                    <a:pt x="0" y="0"/>
                  </a:moveTo>
                  <a:lnTo>
                    <a:pt x="10876280" y="0"/>
                  </a:lnTo>
                  <a:lnTo>
                    <a:pt x="10876280" y="2280920"/>
                  </a:lnTo>
                  <a:lnTo>
                    <a:pt x="0" y="2280920"/>
                  </a:lnTo>
                  <a:close/>
                </a:path>
              </a:pathLst>
            </a:custGeom>
            <a:solidFill>
              <a:srgbClr val="9B4922"/>
            </a:solidFill>
            <a:ln w="19050" cap="sq">
              <a:solidFill>
                <a:srgbClr val="CFC6B2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371600" y="6647688"/>
            <a:ext cx="1854696" cy="25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700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FULL FILL CYCLE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71600" y="7004685"/>
            <a:ext cx="546050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spc="384">
                <a:solidFill>
                  <a:srgbClr val="EFE7DD"/>
                </a:solidFill>
                <a:latin typeface="Montserrat"/>
                <a:ea typeface="Montserrat"/>
                <a:cs typeface="Montserrat"/>
                <a:sym typeface="Montserrat"/>
              </a:rPr>
              <a:t>EMPTY → LOW → MID → FULL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71600" y="7452360"/>
            <a:ext cx="7589520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0"/>
              </a:lnSpc>
            </a:pPr>
            <a:r>
              <a:rPr lang="en-US" sz="1550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The pump stays ON until H becomes 1; it then turns OFF. It turns ON again when H returns to 0, provided the readings are valid.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78230" y="8347710"/>
            <a:ext cx="8176260" cy="1135380"/>
            <a:chOff x="0" y="0"/>
            <a:chExt cx="10901680" cy="1513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01680" cy="1513840"/>
            </a:xfrm>
            <a:custGeom>
              <a:avLst/>
              <a:gdLst/>
              <a:ahLst/>
              <a:cxnLst/>
              <a:rect r="r" b="b" t="t" l="l"/>
              <a:pathLst>
                <a:path h="1513840" w="10901680">
                  <a:moveTo>
                    <a:pt x="0" y="0"/>
                  </a:moveTo>
                  <a:lnTo>
                    <a:pt x="10901680" y="0"/>
                  </a:lnTo>
                  <a:lnTo>
                    <a:pt x="10901680" y="1513840"/>
                  </a:lnTo>
                  <a:lnTo>
                    <a:pt x="0" y="1513840"/>
                  </a:lnTo>
                  <a:close/>
                </a:path>
              </a:pathLst>
            </a:custGeom>
            <a:solidFill>
              <a:srgbClr val="764B36"/>
            </a:solidFill>
            <a:ln w="38100" cap="sq">
              <a:solidFill>
                <a:srgbClr val="1E6F8E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1371600" y="8439912"/>
            <a:ext cx="294694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IMPOSSIBLE SENSOR EXAMPLE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71600" y="8732520"/>
            <a:ext cx="3834259" cy="25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700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001: high probe wet while low probe is dry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71600" y="9052560"/>
            <a:ext cx="3140273" cy="25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8"/>
              </a:lnSpc>
            </a:pPr>
            <a:r>
              <a:rPr lang="en-US" sz="1700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PUMP OFF  •  FAULT LAMP ON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601200" y="6675120"/>
            <a:ext cx="7589520" cy="2683440"/>
            <a:chOff x="0" y="0"/>
            <a:chExt cx="10119360" cy="3577920"/>
          </a:xfrm>
        </p:grpSpPr>
        <p:sp>
          <p:nvSpPr>
            <p:cNvPr name="Freeform 43" id="43" descr="image.png"/>
            <p:cNvSpPr/>
            <p:nvPr/>
          </p:nvSpPr>
          <p:spPr>
            <a:xfrm flipH="false" flipV="false" rot="0">
              <a:off x="0" y="0"/>
              <a:ext cx="10119360" cy="3577971"/>
            </a:xfrm>
            <a:custGeom>
              <a:avLst/>
              <a:gdLst/>
              <a:ahLst/>
              <a:cxnLst/>
              <a:rect r="r" b="b" t="t" l="l"/>
              <a:pathLst>
                <a:path h="3577971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3577971"/>
                  </a:lnTo>
                  <a:lnTo>
                    <a:pt x="0" y="357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0845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5709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0573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04925" y="7101323"/>
            <a:ext cx="1892842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75"/>
              </a:lnSpc>
              <a:spcBef>
                <a:spcPct val="0"/>
              </a:spcBef>
            </a:pPr>
            <a:r>
              <a:rPr lang="en-US" sz="2625" spc="-52">
                <a:solidFill>
                  <a:srgbClr val="764B36"/>
                </a:solidFill>
                <a:latin typeface="RoxboroughCF"/>
                <a:ea typeface="RoxboroughCF"/>
                <a:cs typeface="RoxboroughCF"/>
                <a:sym typeface="RoxboroughCF"/>
              </a:rPr>
              <a:t>Advantages, applications, limitations &amp; future scope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92870" y="2460349"/>
            <a:ext cx="2278056" cy="303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2081" spc="333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ADVANTAGES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092870" y="2972876"/>
            <a:ext cx="6296759" cy="124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6094" indent="-138047" lvl="1">
              <a:lnSpc>
                <a:spcPts val="2017"/>
              </a:lnSpc>
              <a:buFont typeface="Arial"/>
              <a:buChar char="•"/>
            </a:pPr>
            <a:r>
              <a:rPr lang="en-US" sz="1681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Simple: three inputs and eight gates.</a:t>
            </a:r>
          </a:p>
          <a:p>
            <a:pPr algn="l" marL="276094" indent="-138047" lvl="1">
              <a:lnSpc>
                <a:spcPts val="2017"/>
              </a:lnSpc>
              <a:buFont typeface="Arial"/>
              <a:buChar char="•"/>
            </a:pPr>
            <a:r>
              <a:rPr lang="en-US" sz="1681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Cost-effective: no microcontroller or code.</a:t>
            </a:r>
          </a:p>
          <a:p>
            <a:pPr algn="l" marL="276094" indent="-138047" lvl="1">
              <a:lnSpc>
                <a:spcPts val="2017"/>
              </a:lnSpc>
              <a:buFont typeface="Arial"/>
              <a:buChar char="•"/>
            </a:pPr>
            <a:r>
              <a:rPr lang="en-US" sz="1681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Reliable: no software to hang; instant response to sensor changes.</a:t>
            </a:r>
          </a:p>
          <a:p>
            <a:pPr algn="l" marL="276094" indent="-138047" lvl="1">
              <a:lnSpc>
                <a:spcPts val="2017"/>
              </a:lnSpc>
              <a:buFont typeface="Arial"/>
              <a:buChar char="•"/>
            </a:pPr>
            <a:r>
              <a:rPr lang="en-US" sz="1681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Fail-safe: impossible readings stop the pump.</a:t>
            </a:r>
          </a:p>
          <a:p>
            <a:pPr algn="l" marL="276094" indent="-138047" lvl="1">
              <a:lnSpc>
                <a:spcPts val="2017"/>
              </a:lnSpc>
              <a:buFont typeface="Arial"/>
              <a:buChar char="•"/>
            </a:pPr>
            <a:r>
              <a:rPr lang="en-US" sz="1681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Saves water and helps protect the pump.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682501" y="2460349"/>
            <a:ext cx="2186891" cy="303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2081" spc="333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LIMITATIONS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682501" y="2972876"/>
            <a:ext cx="6296759" cy="1248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6094" indent="-138047" lvl="1">
              <a:lnSpc>
                <a:spcPts val="2017"/>
              </a:lnSpc>
              <a:buFont typeface="Arial"/>
              <a:buChar char="•"/>
            </a:pPr>
            <a:r>
              <a:rPr lang="en-US" sz="1681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No memory: pump restarts as soon as level dips below H (no hysteresis).</a:t>
            </a:r>
          </a:p>
          <a:p>
            <a:pPr algn="l" marL="276094" indent="-138047" lvl="1">
              <a:lnSpc>
                <a:spcPts val="2017"/>
              </a:lnSpc>
              <a:buFont typeface="Arial"/>
              <a:buChar char="•"/>
            </a:pPr>
            <a:r>
              <a:rPr lang="en-US" sz="1681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No source-side sensor is included, so source-tank dry-run protection is not provided.</a:t>
            </a:r>
          </a:p>
          <a:p>
            <a:pPr algn="l" marL="276094" indent="-138047" lvl="1">
              <a:lnSpc>
                <a:spcPts val="2017"/>
              </a:lnSpc>
              <a:buFont typeface="Arial"/>
              <a:buChar char="•"/>
            </a:pPr>
            <a:r>
              <a:rPr lang="en-US" sz="1681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Simulation only; a physical pump needs a driver stage.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92870" y="5132810"/>
            <a:ext cx="2503526" cy="303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2081" spc="333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APPLICATIONS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92870" y="5645337"/>
            <a:ext cx="6296759" cy="745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6094" indent="-138047" lvl="1">
              <a:lnSpc>
                <a:spcPts val="2017"/>
              </a:lnSpc>
              <a:buFont typeface="Arial"/>
              <a:buChar char="•"/>
            </a:pPr>
            <a:r>
              <a:rPr lang="en-US" sz="1681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Domestic overhead tanks; apartments and hostels.</a:t>
            </a:r>
          </a:p>
          <a:p>
            <a:pPr algn="l" marL="276094" indent="-138047" lvl="1">
              <a:lnSpc>
                <a:spcPts val="2017"/>
              </a:lnSpc>
              <a:buFont typeface="Arial"/>
              <a:buChar char="•"/>
            </a:pPr>
            <a:r>
              <a:rPr lang="en-US" sz="1681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Industrial/process tanks and agricultural irrigation reservoirs.</a:t>
            </a:r>
          </a:p>
          <a:p>
            <a:pPr algn="l" marL="276094" indent="-138047" lvl="1">
              <a:lnSpc>
                <a:spcPts val="2017"/>
              </a:lnSpc>
              <a:buFont typeface="Arial"/>
              <a:buChar char="•"/>
            </a:pPr>
            <a:r>
              <a:rPr lang="en-US" sz="1681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Any level-controlled container with a pump.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82501" y="5132810"/>
            <a:ext cx="2609826" cy="303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8"/>
              </a:lnSpc>
            </a:pPr>
            <a:r>
              <a:rPr lang="en-US" sz="2081" spc="333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FUTURE SCOPE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82501" y="5645337"/>
            <a:ext cx="6296759" cy="997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6094" indent="-138047" lvl="1">
              <a:lnSpc>
                <a:spcPts val="2017"/>
              </a:lnSpc>
              <a:buFont typeface="Arial"/>
              <a:buChar char="•"/>
            </a:pPr>
            <a:r>
              <a:rPr lang="en-US" sz="1681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Add an SR latch or flip-flop for hysteresis (sequential logic).</a:t>
            </a:r>
          </a:p>
          <a:p>
            <a:pPr algn="l" marL="276094" indent="-138047" lvl="1">
              <a:lnSpc>
                <a:spcPts val="2017"/>
              </a:lnSpc>
              <a:buFont typeface="Arial"/>
              <a:buChar char="•"/>
            </a:pPr>
            <a:r>
              <a:rPr lang="en-US" sz="1681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Add a source-tank sensor for true dry-run protection.</a:t>
            </a:r>
          </a:p>
          <a:p>
            <a:pPr algn="l" marL="276094" indent="-138047" lvl="1">
              <a:lnSpc>
                <a:spcPts val="2017"/>
              </a:lnSpc>
              <a:buFont typeface="Arial"/>
              <a:buChar char="•"/>
            </a:pPr>
            <a:r>
              <a:rPr lang="en-US" sz="1681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Build in hardware or on an FPGA.</a:t>
            </a:r>
          </a:p>
          <a:p>
            <a:pPr algn="l" marL="276094" indent="-138047" lvl="1">
              <a:lnSpc>
                <a:spcPts val="2017"/>
              </a:lnSpc>
              <a:buFont typeface="Arial"/>
              <a:buChar char="•"/>
            </a:pPr>
            <a:r>
              <a:rPr lang="en-US" sz="1681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Add buzzer/GSM alerts; extend to multiple tanks.</a:t>
            </a:r>
          </a:p>
        </p:txBody>
      </p:sp>
      <p:sp>
        <p:nvSpPr>
          <p:cNvPr name="AutoShape 14" id="14"/>
          <p:cNvSpPr/>
          <p:nvPr/>
        </p:nvSpPr>
        <p:spPr>
          <a:xfrm rot="5395080">
            <a:off x="7786572" y="5156081"/>
            <a:ext cx="5352558" cy="0"/>
          </a:xfrm>
          <a:prstGeom prst="line">
            <a:avLst/>
          </a:prstGeom>
          <a:ln cap="rnd" w="9525">
            <a:solidFill>
              <a:srgbClr val="9B49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2040">
            <a:off x="4089056" y="4973036"/>
            <a:ext cx="12894018" cy="0"/>
          </a:xfrm>
          <a:prstGeom prst="line">
            <a:avLst/>
          </a:prstGeom>
          <a:ln cap="rnd" w="9525">
            <a:solidFill>
              <a:srgbClr val="9B492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097280" y="576072"/>
            <a:ext cx="222259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spc="320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04  WRAP-UP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97280" y="9646920"/>
            <a:ext cx="681484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Smart Water Tank Overflow Protection &amp; Pump Control  ·  DDCA  ·  Batch 09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704201" y="9646920"/>
            <a:ext cx="486519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7280" y="576072"/>
            <a:ext cx="1589931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04  WRAP-UP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60845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15709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05736" y="575720"/>
            <a:ext cx="348139" cy="348139"/>
          </a:xfrm>
          <a:custGeom>
            <a:avLst/>
            <a:gdLst/>
            <a:ahLst/>
            <a:cxnLst/>
            <a:rect r="r" b="b" t="t" l="l"/>
            <a:pathLst>
              <a:path h="348139" w="348139">
                <a:moveTo>
                  <a:pt x="0" y="0"/>
                </a:moveTo>
                <a:lnTo>
                  <a:pt x="348138" y="0"/>
                </a:lnTo>
                <a:lnTo>
                  <a:pt x="348138" y="348138"/>
                </a:lnTo>
                <a:lnTo>
                  <a:pt x="0" y="3481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97280" y="1097280"/>
            <a:ext cx="16093440" cy="1188720"/>
            <a:chOff x="0" y="0"/>
            <a:chExt cx="21457920" cy="15849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57920" cy="1584960"/>
            </a:xfrm>
            <a:custGeom>
              <a:avLst/>
              <a:gdLst/>
              <a:ahLst/>
              <a:cxnLst/>
              <a:rect r="r" b="b" t="t" l="l"/>
              <a:pathLst>
                <a:path h="15849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3797" r="0" b="-213797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457920" cy="1594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spc="-88">
                  <a:solidFill>
                    <a:srgbClr val="764B36"/>
                  </a:solidFill>
                  <a:latin typeface="RoxboroughCF"/>
                  <a:ea typeface="RoxboroughCF"/>
                  <a:cs typeface="RoxboroughCF"/>
                  <a:sym typeface="RoxboroughCF"/>
                </a:rPr>
                <a:t>Conclusion &amp; references</a:t>
              </a:r>
            </a:p>
          </p:txBody>
        </p:sp>
      </p:grpSp>
      <p:sp>
        <p:nvSpPr>
          <p:cNvPr name="AutoShape 9" id="9"/>
          <p:cNvSpPr/>
          <p:nvPr/>
        </p:nvSpPr>
        <p:spPr>
          <a:xfrm rot="2040">
            <a:off x="1083374" y="2400110"/>
            <a:ext cx="16121253" cy="0"/>
          </a:xfrm>
          <a:prstGeom prst="line">
            <a:avLst/>
          </a:prstGeom>
          <a:ln cap="rnd" w="9525">
            <a:solidFill>
              <a:srgbClr val="764B3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97280" y="9646920"/>
            <a:ext cx="6814840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Smart Water Tank Overflow Protection &amp; Pump Control  ·  DDCA  ·  Batch 09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717298" y="9646920"/>
            <a:ext cx="47342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19"/>
              </a:lnSpc>
            </a:pPr>
            <a:r>
              <a:rPr lang="en-US" sz="1599">
                <a:solidFill>
                  <a:srgbClr val="9B4922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13 / 13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7280" y="2651760"/>
            <a:ext cx="2011263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764B36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CONCLUSION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7280" y="3181350"/>
            <a:ext cx="7863840" cy="1414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1"/>
              </a:lnSpc>
            </a:pPr>
            <a:r>
              <a:rPr lang="en-US" sz="2241" spc="358">
                <a:solidFill>
                  <a:srgbClr val="764B36"/>
                </a:solidFill>
                <a:latin typeface="Montserrat"/>
                <a:ea typeface="Montserrat"/>
                <a:cs typeface="Montserrat"/>
                <a:sym typeface="Montserrat"/>
              </a:rPr>
              <a:t>EIGHT LOGIC GATES HELP PREVENT OVERFLOW, RUN THE PUMP ONLY WHEN SAFE, AND FLAG FAULTY SENSOR READINGS.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87755" y="5248275"/>
            <a:ext cx="3859530" cy="1436370"/>
            <a:chOff x="0" y="0"/>
            <a:chExt cx="5146040" cy="1915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146040" cy="1915160"/>
            </a:xfrm>
            <a:custGeom>
              <a:avLst/>
              <a:gdLst/>
              <a:ahLst/>
              <a:cxnLst/>
              <a:rect r="r" b="b" t="t" l="l"/>
              <a:pathLst>
                <a:path h="1915160" w="5146040">
                  <a:moveTo>
                    <a:pt x="0" y="0"/>
                  </a:moveTo>
                  <a:lnTo>
                    <a:pt x="5146040" y="0"/>
                  </a:lnTo>
                  <a:lnTo>
                    <a:pt x="5146040" y="1915160"/>
                  </a:lnTo>
                  <a:lnTo>
                    <a:pt x="0" y="1915160"/>
                  </a:lnTo>
                  <a:close/>
                </a:path>
              </a:pathLst>
            </a:custGeom>
            <a:solidFill>
              <a:srgbClr val="D1774C"/>
            </a:solidFill>
            <a:ln w="19050" cap="sq">
              <a:solidFill>
                <a:srgbClr val="CFC6B2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1280160" y="5394960"/>
            <a:ext cx="145256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TRUTH TABLE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0160" y="5770245"/>
            <a:ext cx="1866305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8 cases • 2 outputs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111115" y="5248275"/>
            <a:ext cx="3859530" cy="1436370"/>
            <a:chOff x="0" y="0"/>
            <a:chExt cx="5146040" cy="19151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46040" cy="1915160"/>
            </a:xfrm>
            <a:custGeom>
              <a:avLst/>
              <a:gdLst/>
              <a:ahLst/>
              <a:cxnLst/>
              <a:rect r="r" b="b" t="t" l="l"/>
              <a:pathLst>
                <a:path h="1915160" w="5146040">
                  <a:moveTo>
                    <a:pt x="0" y="0"/>
                  </a:moveTo>
                  <a:lnTo>
                    <a:pt x="5146040" y="0"/>
                  </a:lnTo>
                  <a:lnTo>
                    <a:pt x="5146040" y="1915160"/>
                  </a:lnTo>
                  <a:lnTo>
                    <a:pt x="0" y="1915160"/>
                  </a:lnTo>
                  <a:close/>
                </a:path>
              </a:pathLst>
            </a:custGeom>
            <a:solidFill>
              <a:srgbClr val="C88A36"/>
            </a:solidFill>
            <a:ln w="19050" cap="sq">
              <a:solidFill>
                <a:srgbClr val="CFC6B2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5303520" y="5394960"/>
            <a:ext cx="142086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EXPRESSIONS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303520" y="5770245"/>
            <a:ext cx="3474720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P = H′(L + M′)</a:t>
            </a:r>
          </a:p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F = L′M + M′H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087755" y="6894195"/>
            <a:ext cx="3859530" cy="1436370"/>
            <a:chOff x="0" y="0"/>
            <a:chExt cx="5146040" cy="19151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46040" cy="1915160"/>
            </a:xfrm>
            <a:custGeom>
              <a:avLst/>
              <a:gdLst/>
              <a:ahLst/>
              <a:cxnLst/>
              <a:rect r="r" b="b" t="t" l="l"/>
              <a:pathLst>
                <a:path h="1915160" w="5146040">
                  <a:moveTo>
                    <a:pt x="0" y="0"/>
                  </a:moveTo>
                  <a:lnTo>
                    <a:pt x="5146040" y="0"/>
                  </a:lnTo>
                  <a:lnTo>
                    <a:pt x="5146040" y="1915160"/>
                  </a:lnTo>
                  <a:lnTo>
                    <a:pt x="0" y="1915160"/>
                  </a:lnTo>
                  <a:close/>
                </a:path>
              </a:pathLst>
            </a:custGeom>
            <a:solidFill>
              <a:srgbClr val="D1774C"/>
            </a:solidFill>
            <a:ln w="19050" cap="sq">
              <a:solidFill>
                <a:srgbClr val="CFC6B2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280160" y="7040880"/>
            <a:ext cx="909638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CIRCUIT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0160" y="7416165"/>
            <a:ext cx="239628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3 NOT • 3 AND • 2 OR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111115" y="6894195"/>
            <a:ext cx="3859530" cy="1436370"/>
            <a:chOff x="0" y="0"/>
            <a:chExt cx="5146040" cy="1915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146040" cy="1915160"/>
            </a:xfrm>
            <a:custGeom>
              <a:avLst/>
              <a:gdLst/>
              <a:ahLst/>
              <a:cxnLst/>
              <a:rect r="r" b="b" t="t" l="l"/>
              <a:pathLst>
                <a:path h="1915160" w="5146040">
                  <a:moveTo>
                    <a:pt x="0" y="0"/>
                  </a:moveTo>
                  <a:lnTo>
                    <a:pt x="5146040" y="0"/>
                  </a:lnTo>
                  <a:lnTo>
                    <a:pt x="5146040" y="1915160"/>
                  </a:lnTo>
                  <a:lnTo>
                    <a:pt x="0" y="1915160"/>
                  </a:lnTo>
                  <a:close/>
                </a:path>
              </a:pathLst>
            </a:custGeom>
            <a:solidFill>
              <a:srgbClr val="C88A36"/>
            </a:solidFill>
            <a:ln w="19050" cap="sq">
              <a:solidFill>
                <a:srgbClr val="CFC6B2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5303520" y="7040880"/>
            <a:ext cx="1522363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VERIFICATION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03520" y="7416165"/>
            <a:ext cx="182478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8 of 8 cases match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408795" y="2642235"/>
            <a:ext cx="7791450" cy="5916930"/>
            <a:chOff x="0" y="0"/>
            <a:chExt cx="10388600" cy="78892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388600" cy="7889240"/>
            </a:xfrm>
            <a:custGeom>
              <a:avLst/>
              <a:gdLst/>
              <a:ahLst/>
              <a:cxnLst/>
              <a:rect r="r" b="b" t="t" l="l"/>
              <a:pathLst>
                <a:path h="7889240" w="10388600">
                  <a:moveTo>
                    <a:pt x="0" y="0"/>
                  </a:moveTo>
                  <a:lnTo>
                    <a:pt x="10388600" y="0"/>
                  </a:lnTo>
                  <a:lnTo>
                    <a:pt x="10388600" y="7889240"/>
                  </a:lnTo>
                  <a:lnTo>
                    <a:pt x="0" y="7889240"/>
                  </a:lnTo>
                  <a:close/>
                </a:path>
              </a:pathLst>
            </a:custGeom>
            <a:solidFill>
              <a:srgbClr val="9B4922"/>
            </a:solidFill>
            <a:ln w="19050" cap="sq">
              <a:solidFill>
                <a:srgbClr val="CFC6B2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9738360" y="2844165"/>
            <a:ext cx="159409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REFERENCES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38360" y="3337560"/>
            <a:ext cx="7132320" cy="2571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96546" indent="-148273" lvl="1">
              <a:lnSpc>
                <a:spcPts val="2038"/>
              </a:lnSpc>
              <a:buFont typeface="Arial"/>
              <a:buChar char="•"/>
            </a:pPr>
            <a:r>
              <a:rPr lang="en-US" sz="1700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S. L. Harris &amp; D. Harris, Digital Design and Computer Architecture: RISC-V Edition, Morgan Kaufmann, 2021.</a:t>
            </a:r>
          </a:p>
          <a:p>
            <a:pPr algn="l" marL="296546" indent="-148273" lvl="1">
              <a:lnSpc>
                <a:spcPts val="2038"/>
              </a:lnSpc>
              <a:buFont typeface="Arial"/>
              <a:buChar char="•"/>
            </a:pPr>
            <a:r>
              <a:rPr lang="en-US" sz="1700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M. M. Mano &amp; M. D. Ciletti, Digital Design, 6th ed., Pearson, 2018.</a:t>
            </a:r>
          </a:p>
          <a:p>
            <a:pPr algn="l" marL="296546" indent="-148273" lvl="1">
              <a:lnSpc>
                <a:spcPts val="2038"/>
              </a:lnSpc>
              <a:buFont typeface="Arial"/>
              <a:buChar char="•"/>
            </a:pPr>
            <a:r>
              <a:rPr lang="en-US" sz="1700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T. L. Floyd, Digital Fundamentals, 11th ed., Pearson, 2014.</a:t>
            </a:r>
          </a:p>
          <a:p>
            <a:pPr algn="l" marL="296546" indent="-148273" lvl="1">
              <a:lnSpc>
                <a:spcPts val="2038"/>
              </a:lnSpc>
              <a:buFont typeface="Arial"/>
              <a:buChar char="•"/>
            </a:pPr>
            <a:r>
              <a:rPr lang="en-US" sz="1700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D. A. Patterson &amp; J. L. Hennessy, Computer Organization and Design: RISC-V Edition, 2nd ed., Morgan Kaufmann, 2020.</a:t>
            </a:r>
          </a:p>
          <a:p>
            <a:pPr algn="l" marL="296546" indent="-148273" lvl="1">
              <a:lnSpc>
                <a:spcPts val="2038"/>
              </a:lnSpc>
              <a:buFont typeface="Arial"/>
              <a:buChar char="•"/>
            </a:pPr>
            <a:r>
              <a:rPr lang="en-US" sz="1700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Logisim Evolution — github.com/logisim-evolution/logisim-evolution</a:t>
            </a:r>
          </a:p>
          <a:p>
            <a:pPr algn="l" marL="296546" indent="-148273" lvl="1">
              <a:lnSpc>
                <a:spcPts val="2038"/>
              </a:lnSpc>
              <a:buFont typeface="Arial"/>
              <a:buChar char="•"/>
            </a:pPr>
            <a:r>
              <a:rPr lang="en-US" sz="1700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Electronics Tutorials — electronics-tutorials.ws</a:t>
            </a:r>
          </a:p>
          <a:p>
            <a:pPr algn="l" marL="296546" indent="-148273" lvl="1">
              <a:lnSpc>
                <a:spcPts val="2038"/>
              </a:lnSpc>
              <a:buFont typeface="Arial"/>
              <a:buChar char="•"/>
            </a:pPr>
            <a:r>
              <a:rPr lang="en-US" sz="1700">
                <a:solidFill>
                  <a:srgbClr val="EFE7DD"/>
                </a:solidFill>
                <a:latin typeface="Sorts Mill Goudy"/>
                <a:ea typeface="Sorts Mill Goudy"/>
                <a:cs typeface="Sorts Mill Goudy"/>
                <a:sym typeface="Sorts Mill Goudy"/>
              </a:rPr>
              <a:t>Course handout: Digital Design &amp; Computer Architecture (26EC1202E), 2026–27.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78230" y="8713470"/>
            <a:ext cx="16131540" cy="723900"/>
            <a:chOff x="0" y="0"/>
            <a:chExt cx="21508720" cy="965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508720" cy="965200"/>
            </a:xfrm>
            <a:custGeom>
              <a:avLst/>
              <a:gdLst/>
              <a:ahLst/>
              <a:cxnLst/>
              <a:rect r="r" b="b" t="t" l="l"/>
              <a:pathLst>
                <a:path h="965200" w="21508720">
                  <a:moveTo>
                    <a:pt x="0" y="0"/>
                  </a:moveTo>
                  <a:lnTo>
                    <a:pt x="21508720" y="0"/>
                  </a:lnTo>
                  <a:lnTo>
                    <a:pt x="2150872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764B36"/>
            </a:solidFill>
            <a:ln w="38100" cap="sq">
              <a:solidFill>
                <a:srgbClr val="1E6F8E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371600" y="8732520"/>
            <a:ext cx="15544800" cy="685800"/>
            <a:chOff x="0" y="0"/>
            <a:chExt cx="2072640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726400" cy="914400"/>
            </a:xfrm>
            <a:custGeom>
              <a:avLst/>
              <a:gdLst/>
              <a:ahLst/>
              <a:cxnLst/>
              <a:rect r="r" b="b" t="t" l="l"/>
              <a:pathLst>
                <a:path h="9144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1660" r="0" b="-39166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2072640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spc="416">
                  <a:solidFill>
                    <a:srgbClr val="EFE7DD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THANK YOU  •  QUESTIONS AND DISCUSSION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DAHYC08IQTs</dc:identifier>
  <dcterms:modified xsi:type="dcterms:W3CDTF">2011-08-01T06:04:30Z</dcterms:modified>
  <cp:revision>1</cp:revision>
</cp:coreProperties>
</file>